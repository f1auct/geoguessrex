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 Medium"/>
      <p:regular r:id="rId201314"/>
    </p:embeddedFont>
    <p:embeddedFont>
      <p:font typeface="Inconsolata"/>
      <p:regular r:id="rId201315"/>
    </p:embeddedFont>
    <p:embeddedFont>
      <p:font typeface="Inconsolata ExtraBold"/>
      <p:regular r:id="rId201316"/>
    </p:embeddedFont>
    <p:embeddedFont>
      <p:font typeface="Inconsolata Black"/>
      <p:regular r:id="rId201317"/>
    </p:embeddedFont>
    <p:embeddedFont>
      <p:font typeface="Inconsolata ExtraLight"/>
      <p:regular r:id="rId201318"/>
    </p:embeddedFont>
    <p:embeddedFont>
      <p:font typeface="Inconsolata Light"/>
      <p:regular r:id="rId201319"/>
    </p:embeddedFont>
    <p:embeddedFont>
      <p:font typeface="Inconsolata SemiBold"/>
      <p:regular r:id="rId201320"/>
    </p:embeddedFont>
    <p:embeddedFont>
      <p:font typeface="Inconsolata Bold"/>
      <p:regular r:id="rId201321"/>
    </p:embeddedFont>
    <p:embeddedFont>
      <p:font typeface="Montserrat Thin"/>
      <p:regular r:id="rId201322"/>
    </p:embeddedFont>
    <p:embeddedFont>
      <p:font typeface="Montserrat"/>
      <p:regular r:id="rId201323"/>
    </p:embeddedFont>
    <p:embeddedFont>
      <p:font typeface="Montserrat SemiBold"/>
      <p:regular r:id="rId201324"/>
    </p:embeddedFont>
    <p:embeddedFont>
      <p:font typeface="Montserrat Bold"/>
      <p:regular r:id="rId201325"/>
    </p:embeddedFont>
    <p:embeddedFont>
      <p:font typeface="Montserrat Black"/>
      <p:regular r:id="rId201326"/>
    </p:embeddedFont>
    <p:embeddedFont>
      <p:font typeface="Montserrat Light"/>
      <p:regular r:id="rId201327"/>
    </p:embeddedFont>
    <p:embeddedFont>
      <p:font typeface="Montserrat ExtraLight"/>
      <p:regular r:id="rId201328"/>
    </p:embeddedFont>
    <p:embeddedFont>
      <p:font typeface="Montserrat Medium"/>
      <p:regular r:id="rId201329"/>
    </p:embeddedFont>
    <p:embeddedFont>
      <p:font typeface="Montserrat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93775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GeoguessrEX 概要设计</a:t>
            </a:r>
            <a:endParaRPr lang="zh-CN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967359"/>
            <a:ext cx="4722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以图寻游戏为载体的 UGC 社交平台</a:t>
            </a:r>
            <a:endParaRPr lang="zh-CN" sz="3350" dirty="0"/>
          </a:p>
        </p:txBody>
      </p:sp>
      <p:sp>
        <p:nvSpPr>
          <p:cNvPr id="5" name="Text 2"/>
          <p:cNvSpPr/>
          <p:nvPr/>
        </p:nvSpPr>
        <p:spPr>
          <a:xfrm>
            <a:off x="496119" y="3223171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汇报时长：15–20 分钟 · 总页数：20–25 页</a:t>
            </a:r>
            <a:endParaRPr lang="zh-CN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3561159"/>
            <a:ext cx="743992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7" name="Text 4"/>
          <p:cNvSpPr/>
          <p:nvPr/>
        </p:nvSpPr>
        <p:spPr>
          <a:xfrm>
            <a:off x="570533" y="3598366"/>
            <a:ext cx="10523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系统架构汇报</a:t>
            </a:r>
            <a:endParaRPr lang="zh-CN" sz="750" dirty="0"/>
          </a:p>
        </p:txBody>
      </p:sp>
      <p:sp>
        <p:nvSpPr>
          <p:cNvPr id="8" name="Shape 5"/>
          <p:cNvSpPr/>
          <p:nvPr/>
        </p:nvSpPr>
        <p:spPr>
          <a:xfrm>
            <a:off x="1302097" y="3561159"/>
            <a:ext cx="1091208" cy="188565"/>
          </a:xfrm>
          <a:prstGeom prst="roundRect">
            <a:avLst>
              <a:gd name="adj" fmla="val 3031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6511" y="3598366"/>
            <a:ext cx="139958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上篇 · 核心模块设计</a:t>
            </a:r>
            <a:endParaRPr lang="zh-CN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3569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项目背景与整体架构</a:t>
            </a:r>
            <a:endParaRPr lang="zh-CN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387153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GeoguessrEX 是一款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b="1" dirty="0">
                <a:solidFill>
                  <a:srgbClr val="F2DED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基于地理位置猜谜的社区驱动型社交游戏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，融合街景探索、地图标点与多人竞技玩法，构建用户生成内容（UGC）生态。</a:t>
            </a:r>
            <a:endParaRPr lang="zh-CN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923604"/>
            <a:ext cx="2299395" cy="922660"/>
          </a:xfrm>
          <a:prstGeom prst="roundRect">
            <a:avLst>
              <a:gd name="adj" fmla="val 61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4855" y="2052340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前端层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624855" y="2320603"/>
            <a:ext cx="20419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Vite + React 18，响应式地图交互界面，GCJ-02 坐标合规渲染</a:t>
            </a:r>
            <a:endParaRPr lang="zh-CN" sz="950" dirty="0"/>
          </a:p>
        </p:txBody>
      </p:sp>
      <p:sp>
        <p:nvSpPr>
          <p:cNvPr id="8" name="Shape 5"/>
          <p:cNvSpPr/>
          <p:nvPr/>
        </p:nvSpPr>
        <p:spPr>
          <a:xfrm>
            <a:off x="2919487" y="1923604"/>
            <a:ext cx="2299395" cy="922660"/>
          </a:xfrm>
          <a:prstGeom prst="roundRect">
            <a:avLst>
              <a:gd name="adj" fmla="val 61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048223" y="2052340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后端层</a:t>
            </a:r>
            <a:endParaRPr lang="zh-CN" sz="1200" dirty="0"/>
          </a:p>
        </p:txBody>
      </p:sp>
      <p:sp>
        <p:nvSpPr>
          <p:cNvPr id="10" name="Text 7"/>
          <p:cNvSpPr/>
          <p:nvPr/>
        </p:nvSpPr>
        <p:spPr>
          <a:xfrm>
            <a:off x="3048223" y="2320603"/>
            <a:ext cx="20419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Express 4 RESTful API，鉴权中间件，游戏评分引擎，房间状态管理</a:t>
            </a:r>
            <a:endParaRPr lang="zh-CN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2970237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4855" y="3098974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数据层</a:t>
            </a:r>
            <a:endParaRPr lang="zh-CN" sz="1200" dirty="0"/>
          </a:p>
        </p:txBody>
      </p:sp>
      <p:sp>
        <p:nvSpPr>
          <p:cNvPr id="13" name="Text 10"/>
          <p:cNvSpPr/>
          <p:nvPr/>
        </p:nvSpPr>
        <p:spPr>
          <a:xfrm>
            <a:off x="624855" y="3367236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SQLite 持久化存储，Monorepo 架构（apps/web + apps/api），pnpm workspace</a:t>
            </a:r>
            <a:endParaRPr lang="zh-CN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833961"/>
            <a:ext cx="4722763" cy="495970"/>
          </a:xfrm>
          <a:prstGeom prst="roundRect">
            <a:avLst>
              <a:gd name="adj" fmla="val 1152"/>
            </a:avLst>
          </a:prstGeom>
          <a:solidFill>
            <a:srgbClr val="E4E6E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4013746"/>
            <a:ext cx="155004" cy="1239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9071" y="3988891"/>
            <a:ext cx="4653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核心玩法闭环：街景/图片 → 地图标点 → Haversine 距离计分 → 排名结算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功能模块全景</a:t>
            </a:r>
            <a:endParaRPr 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GeoguessrEX 覆盖从用户认证到社交经济的完整产品体系，共 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16 个功能模块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，分属四大能力域。</a:t>
            </a:r>
            <a:endParaRPr lang="zh-CN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6115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855741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本报告上篇聚焦：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用户认证 · 题库系统 · 游戏引擎 · 单人练习 · PvP 对战 · 大逃杀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，下篇将展开社交、经济与运营模块。</a:t>
            </a:r>
            <a:endParaRPr lang="zh-CN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7130"/>
            <a:ext cx="340891" cy="161851"/>
          </a:xfrm>
          <a:prstGeom prst="roundRect">
            <a:avLst>
              <a:gd name="adj" fmla="val 35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0040" y="409054"/>
            <a:ext cx="670247" cy="9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第1章</a:t>
            </a:r>
            <a:endParaRPr lang="zh-CN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75593"/>
            <a:ext cx="8151763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用户认证模块设计</a:t>
            </a:r>
            <a:endParaRPr lang="zh-CN" sz="2050" dirty="0"/>
          </a:p>
        </p:txBody>
      </p:sp>
      <p:sp>
        <p:nvSpPr>
          <p:cNvPr id="5" name="Shape 3"/>
          <p:cNvSpPr/>
          <p:nvPr/>
        </p:nvSpPr>
        <p:spPr>
          <a:xfrm>
            <a:off x="419398" y="1046038"/>
            <a:ext cx="4099322" cy="3720257"/>
          </a:xfrm>
          <a:prstGeom prst="roundRect">
            <a:avLst>
              <a:gd name="adj" fmla="val 154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525959" y="1137642"/>
            <a:ext cx="388620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四级角色体系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525959" y="1407170"/>
            <a:ext cx="21319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5959" y="1574006"/>
            <a:ext cx="388620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525959" y="1655862"/>
            <a:ext cx="388620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游客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525959" y="1914004"/>
            <a:ext cx="3886200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每日限玩 3 局，仅体验基础功能</a:t>
            </a:r>
            <a:endParaRPr lang="zh-CN" sz="800" dirty="0"/>
          </a:p>
        </p:txBody>
      </p:sp>
      <p:sp>
        <p:nvSpPr>
          <p:cNvPr id="11" name="Text 9"/>
          <p:cNvSpPr/>
          <p:nvPr/>
        </p:nvSpPr>
        <p:spPr>
          <a:xfrm>
            <a:off x="525959" y="2244105"/>
            <a:ext cx="21319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5959" y="2410941"/>
            <a:ext cx="388620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525959" y="2492797"/>
            <a:ext cx="388620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注册用户</a:t>
            </a:r>
            <a:endParaRPr lang="zh-CN" sz="1000" dirty="0"/>
          </a:p>
        </p:txBody>
      </p:sp>
      <p:sp>
        <p:nvSpPr>
          <p:cNvPr id="14" name="Text 12"/>
          <p:cNvSpPr/>
          <p:nvPr/>
        </p:nvSpPr>
        <p:spPr>
          <a:xfrm>
            <a:off x="525959" y="2750939"/>
            <a:ext cx="3886200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全功能解锁，可上传题目、参与对战</a:t>
            </a:r>
            <a:endParaRPr lang="zh-CN" sz="800" dirty="0"/>
          </a:p>
        </p:txBody>
      </p:sp>
      <p:sp>
        <p:nvSpPr>
          <p:cNvPr id="15" name="Text 13"/>
          <p:cNvSpPr/>
          <p:nvPr/>
        </p:nvSpPr>
        <p:spPr>
          <a:xfrm>
            <a:off x="525959" y="3081040"/>
            <a:ext cx="21319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959" y="3247876"/>
            <a:ext cx="388620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525959" y="3329732"/>
            <a:ext cx="388620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审核员</a:t>
            </a:r>
            <a:endParaRPr lang="zh-CN" sz="1000" dirty="0"/>
          </a:p>
        </p:txBody>
      </p:sp>
      <p:sp>
        <p:nvSpPr>
          <p:cNvPr id="18" name="Text 16"/>
          <p:cNvSpPr/>
          <p:nvPr/>
        </p:nvSpPr>
        <p:spPr>
          <a:xfrm>
            <a:off x="525959" y="3587874"/>
            <a:ext cx="3886200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审题权限，管理公共题库质量</a:t>
            </a:r>
            <a:endParaRPr lang="zh-CN" sz="800" dirty="0"/>
          </a:p>
        </p:txBody>
      </p:sp>
      <p:sp>
        <p:nvSpPr>
          <p:cNvPr id="19" name="Text 17"/>
          <p:cNvSpPr/>
          <p:nvPr/>
        </p:nvSpPr>
        <p:spPr>
          <a:xfrm>
            <a:off x="525959" y="3917975"/>
            <a:ext cx="21319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5959" y="4084811"/>
            <a:ext cx="388620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525959" y="4166667"/>
            <a:ext cx="388620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管理员</a:t>
            </a:r>
            <a:endParaRPr lang="zh-CN" sz="1000" dirty="0"/>
          </a:p>
        </p:txBody>
      </p:sp>
      <p:sp>
        <p:nvSpPr>
          <p:cNvPr id="22" name="Text 20"/>
          <p:cNvSpPr/>
          <p:nvPr/>
        </p:nvSpPr>
        <p:spPr>
          <a:xfrm>
            <a:off x="525959" y="4424809"/>
            <a:ext cx="3886200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全平台权限，用户与内容管理</a:t>
            </a:r>
            <a:endParaRPr lang="zh-CN" sz="800" dirty="0"/>
          </a:p>
        </p:txBody>
      </p:sp>
      <p:sp>
        <p:nvSpPr>
          <p:cNvPr id="23" name="Text 21"/>
          <p:cNvSpPr/>
          <p:nvPr/>
        </p:nvSpPr>
        <p:spPr>
          <a:xfrm>
            <a:off x="4706764" y="1137642"/>
            <a:ext cx="394588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注册与登录安全设计</a:t>
            </a:r>
            <a:endParaRPr lang="zh-CN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6764" y="1407170"/>
            <a:ext cx="3945880" cy="6584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884762" y="1528018"/>
            <a:ext cx="3647033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密码存储</a:t>
            </a:r>
            <a:endParaRPr lang="zh-CN" sz="1000" dirty="0"/>
          </a:p>
        </p:txBody>
      </p:sp>
      <p:sp>
        <p:nvSpPr>
          <p:cNvPr id="26" name="Text 23"/>
          <p:cNvSpPr/>
          <p:nvPr/>
        </p:nvSpPr>
        <p:spPr>
          <a:xfrm>
            <a:off x="4884762" y="1786161"/>
            <a:ext cx="3647033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PBKDF2 · 120,000 次 SHA-512 迭代 + 随机 Salt，抵御彩虹表攻击</a:t>
            </a:r>
            <a:endParaRPr lang="zh-CN" sz="8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6764" y="2157189"/>
            <a:ext cx="3945880" cy="65841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84762" y="2278038"/>
            <a:ext cx="3647033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Token 签发</a:t>
            </a:r>
            <a:endParaRPr lang="zh-CN" sz="1000" dirty="0"/>
          </a:p>
        </p:txBody>
      </p:sp>
      <p:sp>
        <p:nvSpPr>
          <p:cNvPr id="29" name="Text 25"/>
          <p:cNvSpPr/>
          <p:nvPr/>
        </p:nvSpPr>
        <p:spPr>
          <a:xfrm>
            <a:off x="4884762" y="2536180"/>
            <a:ext cx="3647033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HMAC-SHA256 Bearer Token，7 天有效期，服务端验签</a:t>
            </a:r>
            <a:endParaRPr lang="zh-CN" sz="8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6764" y="2907209"/>
            <a:ext cx="3945880" cy="8169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884762" y="3028057"/>
            <a:ext cx="3647033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前后端双层拦截</a:t>
            </a:r>
            <a:endParaRPr lang="zh-CN" sz="1000" dirty="0"/>
          </a:p>
        </p:txBody>
      </p:sp>
      <p:sp>
        <p:nvSpPr>
          <p:cNvPr id="32" name="Text 27"/>
          <p:cNvSpPr/>
          <p:nvPr/>
        </p:nvSpPr>
        <p:spPr>
          <a:xfrm>
            <a:off x="4884762" y="3286199"/>
            <a:ext cx="3647033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AuthContext + ProtectedRoute（前端）· authMiddleware + adminMiddleware（后端）</a:t>
            </a:r>
            <a:endParaRPr lang="zh-CN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198313" cy="94283"/>
          </a:xfrm>
          <a:prstGeom prst="roundRect">
            <a:avLst>
              <a:gd name="adj" fmla="val 6062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33326" y="359718"/>
            <a:ext cx="581099" cy="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第2章</a:t>
            </a:r>
            <a:endParaRPr lang="zh-CN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4774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题库系统模块设计</a:t>
            </a:r>
            <a:endParaRPr lang="zh-CN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719063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两级数据模型</a:t>
            </a:r>
            <a:endParaRPr lang="zh-CN" sz="600" dirty="0"/>
          </a:p>
        </p:txBody>
      </p:sp>
      <p:sp>
        <p:nvSpPr>
          <p:cNvPr id="6" name="Shape 4"/>
          <p:cNvSpPr/>
          <p:nvPr/>
        </p:nvSpPr>
        <p:spPr>
          <a:xfrm>
            <a:off x="496119" y="850776"/>
            <a:ext cx="1984623" cy="419546"/>
          </a:xfrm>
          <a:prstGeom prst="roundRect">
            <a:avLst>
              <a:gd name="adj" fmla="val 1362"/>
            </a:avLst>
          </a:prstGeom>
          <a:solidFill>
            <a:srgbClr val="F8ECE4"/>
          </a:solidFill>
          <a:ln w="9525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7620" dir="270000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7630" y="922288"/>
            <a:ext cx="184159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题库（Collection）</a:t>
            </a:r>
            <a:endParaRPr lang="zh-CN" sz="600" dirty="0"/>
          </a:p>
        </p:txBody>
      </p:sp>
      <p:sp>
        <p:nvSpPr>
          <p:cNvPr id="8" name="Text 6"/>
          <p:cNvSpPr/>
          <p:nvPr/>
        </p:nvSpPr>
        <p:spPr>
          <a:xfrm>
            <a:off x="567630" y="1050131"/>
            <a:ext cx="184159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题目集合容器，含分类标签、难度等级、创建者信息</a:t>
            </a:r>
            <a:endParaRPr lang="zh-CN" sz="450" dirty="0"/>
          </a:p>
        </p:txBody>
      </p:sp>
      <p:sp>
        <p:nvSpPr>
          <p:cNvPr id="9" name="Shape 7"/>
          <p:cNvSpPr/>
          <p:nvPr/>
        </p:nvSpPr>
        <p:spPr>
          <a:xfrm>
            <a:off x="2511698" y="850776"/>
            <a:ext cx="1984697" cy="419546"/>
          </a:xfrm>
          <a:prstGeom prst="roundRect">
            <a:avLst>
              <a:gd name="adj" fmla="val 1362"/>
            </a:avLst>
          </a:prstGeom>
          <a:solidFill>
            <a:srgbClr val="F8ECE4"/>
          </a:solidFill>
          <a:ln w="9525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7620" dir="270000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3210" y="922288"/>
            <a:ext cx="184167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题目（Question）</a:t>
            </a:r>
            <a:endParaRPr lang="zh-CN" sz="600" dirty="0"/>
          </a:p>
        </p:txBody>
      </p:sp>
      <p:sp>
        <p:nvSpPr>
          <p:cNvPr id="11" name="Text 9"/>
          <p:cNvSpPr/>
          <p:nvPr/>
        </p:nvSpPr>
        <p:spPr>
          <a:xfrm>
            <a:off x="2583210" y="1050131"/>
            <a:ext cx="184167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街景模式：lat/lng/heading/pitch/fov/panoId（WGS-84）</a:t>
            </a:r>
            <a:endParaRPr lang="zh-CN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图片模式：上传文件 ≤10MB + 手动坐标</a:t>
            </a:r>
            <a:endParaRPr lang="zh-CN" sz="450" dirty="0"/>
          </a:p>
        </p:txBody>
      </p:sp>
      <p:sp>
        <p:nvSpPr>
          <p:cNvPr id="12" name="Text 10"/>
          <p:cNvSpPr/>
          <p:nvPr/>
        </p:nvSpPr>
        <p:spPr>
          <a:xfrm>
            <a:off x="496119" y="130514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上传方式</a:t>
            </a:r>
            <a:endParaRPr lang="zh-CN" sz="600" dirty="0"/>
          </a:p>
        </p:txBody>
      </p:sp>
      <p:sp>
        <p:nvSpPr>
          <p:cNvPr id="13" name="Text 11"/>
          <p:cNvSpPr/>
          <p:nvPr/>
        </p:nvSpPr>
        <p:spPr>
          <a:xfrm>
            <a:off x="496119" y="1432992"/>
            <a:ext cx="4000277" cy="15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方式①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：粘贴 Google Maps URL → 自动解析坐标与全景参数</a:t>
            </a:r>
            <a:endParaRPr lang="zh-CN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方式②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：手动输入经纬度 + 上传图片（≤10MB）</a:t>
            </a:r>
            <a:endParaRPr lang="zh-CN" sz="450" dirty="0"/>
          </a:p>
        </p:txBody>
      </p:sp>
      <p:sp>
        <p:nvSpPr>
          <p:cNvPr id="14" name="Text 12"/>
          <p:cNvSpPr/>
          <p:nvPr/>
        </p:nvSpPr>
        <p:spPr>
          <a:xfrm>
            <a:off x="4652367" y="719063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审核状态机</a:t>
            </a:r>
            <a:endParaRPr lang="zh-CN" sz="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2367" y="850776"/>
            <a:ext cx="4000277" cy="4000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5539"/>
            <a:ext cx="272653" cy="129480"/>
          </a:xfrm>
          <a:prstGeom prst="roundRect">
            <a:avLst>
              <a:gd name="adj" fmla="val 441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47241" y="411063"/>
            <a:ext cx="627608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第3章</a:t>
            </a:r>
            <a:endParaRPr lang="zh-CN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38460"/>
            <a:ext cx="8151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游戏核心引擎模块设计</a:t>
            </a:r>
            <a:endParaRPr lang="zh-CN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828377"/>
            <a:ext cx="8151763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评分算法</a:t>
            </a:r>
            <a:endParaRPr lang="zh-CN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1049536"/>
            <a:ext cx="8608963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采用指数衰减模型，距离越近得分越高，最大分值 5000 分：</a:t>
            </a:r>
            <a:endParaRPr lang="zh-CN" sz="650" dirty="0"/>
          </a:p>
        </p:txBody>
      </p:sp>
      <p:sp>
        <p:nvSpPr>
          <p:cNvPr id="7" name="Text 5"/>
          <p:cNvSpPr/>
          <p:nvPr/>
        </p:nvSpPr>
        <p:spPr>
          <a:xfrm>
            <a:off x="496119" y="1238845"/>
            <a:ext cx="81517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38845"/>
            <a:ext cx="8151763" cy="2102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6119" y="1565970"/>
            <a:ext cx="2668414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5000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6119" y="1933947"/>
            <a:ext cx="266841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 km（精确命中）</a:t>
            </a:r>
            <a:endParaRPr lang="zh-CN" sz="800" dirty="0"/>
          </a:p>
        </p:txBody>
      </p:sp>
      <p:sp>
        <p:nvSpPr>
          <p:cNvPr id="11" name="Text 8"/>
          <p:cNvSpPr/>
          <p:nvPr/>
        </p:nvSpPr>
        <p:spPr>
          <a:xfrm>
            <a:off x="3237756" y="1565970"/>
            <a:ext cx="2668414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3894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37756" y="1933947"/>
            <a:ext cx="266841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500 km 距离</a:t>
            </a:r>
            <a:endParaRPr lang="zh-CN" sz="800" dirty="0"/>
          </a:p>
        </p:txBody>
      </p:sp>
      <p:sp>
        <p:nvSpPr>
          <p:cNvPr id="13" name="Text 10"/>
          <p:cNvSpPr/>
          <p:nvPr/>
        </p:nvSpPr>
        <p:spPr>
          <a:xfrm>
            <a:off x="5979393" y="1565970"/>
            <a:ext cx="2668488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1840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79393" y="1933947"/>
            <a:ext cx="2668488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2000 km 距离</a:t>
            </a:r>
            <a:endParaRPr lang="zh-CN" sz="800" dirty="0"/>
          </a:p>
        </p:txBody>
      </p:sp>
      <p:sp>
        <p:nvSpPr>
          <p:cNvPr id="15" name="Text 12"/>
          <p:cNvSpPr/>
          <p:nvPr/>
        </p:nvSpPr>
        <p:spPr>
          <a:xfrm>
            <a:off x="496119" y="2155106"/>
            <a:ext cx="8151763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坐标转换管线</a:t>
            </a:r>
            <a:endParaRPr lang="zh-CN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376264"/>
            <a:ext cx="426393" cy="51167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81075" y="2461543"/>
            <a:ext cx="7666806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题库坐标</a:t>
            </a:r>
            <a:endParaRPr lang="zh-CN" sz="800" dirty="0"/>
          </a:p>
        </p:txBody>
      </p:sp>
      <p:sp>
        <p:nvSpPr>
          <p:cNvPr id="18" name="Text 14"/>
          <p:cNvSpPr/>
          <p:nvPr/>
        </p:nvSpPr>
        <p:spPr>
          <a:xfrm>
            <a:off x="981075" y="2629942"/>
            <a:ext cx="766680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WGS-84（原始存储）</a:t>
            </a:r>
            <a:endParaRPr lang="zh-CN" sz="6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887935"/>
            <a:ext cx="426393" cy="5116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1075" y="2973214"/>
            <a:ext cx="7666806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前端渲染</a:t>
            </a:r>
            <a:endParaRPr lang="zh-CN" sz="800" dirty="0"/>
          </a:p>
        </p:txBody>
      </p:sp>
      <p:sp>
        <p:nvSpPr>
          <p:cNvPr id="21" name="Text 16"/>
          <p:cNvSpPr/>
          <p:nvPr/>
        </p:nvSpPr>
        <p:spPr>
          <a:xfrm>
            <a:off x="981075" y="3141613"/>
            <a:ext cx="766680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转换为 GCJ-02（国内地图合规）</a:t>
            </a:r>
            <a:endParaRPr lang="zh-CN" sz="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99606"/>
            <a:ext cx="426393" cy="51167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1075" y="3484885"/>
            <a:ext cx="7666806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用户标点</a:t>
            </a:r>
            <a:endParaRPr lang="zh-CN" sz="800" dirty="0"/>
          </a:p>
        </p:txBody>
      </p:sp>
      <p:sp>
        <p:nvSpPr>
          <p:cNvPr id="24" name="Text 18"/>
          <p:cNvSpPr/>
          <p:nvPr/>
        </p:nvSpPr>
        <p:spPr>
          <a:xfrm>
            <a:off x="981075" y="3653284"/>
            <a:ext cx="766680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提交前转回 WGS-84</a:t>
            </a:r>
            <a:endParaRPr lang="zh-CN" sz="6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911278"/>
            <a:ext cx="426393" cy="51167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1075" y="3996556"/>
            <a:ext cx="7666806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后端计算</a:t>
            </a:r>
            <a:endParaRPr lang="zh-CN" sz="800" dirty="0"/>
          </a:p>
        </p:txBody>
      </p:sp>
      <p:sp>
        <p:nvSpPr>
          <p:cNvPr id="27" name="Text 20"/>
          <p:cNvSpPr/>
          <p:nvPr/>
        </p:nvSpPr>
        <p:spPr>
          <a:xfrm>
            <a:off x="981075" y="4164955"/>
            <a:ext cx="766680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Haversine 公式计算球面距离</a:t>
            </a:r>
            <a:endParaRPr lang="zh-CN" sz="650" dirty="0"/>
          </a:p>
        </p:txBody>
      </p:sp>
      <p:sp>
        <p:nvSpPr>
          <p:cNvPr id="28" name="Shape 21"/>
          <p:cNvSpPr/>
          <p:nvPr/>
        </p:nvSpPr>
        <p:spPr>
          <a:xfrm>
            <a:off x="496119" y="4488879"/>
            <a:ext cx="8151763" cy="269007"/>
          </a:xfrm>
          <a:prstGeom prst="roundRect">
            <a:avLst>
              <a:gd name="adj" fmla="val 2124"/>
            </a:avLst>
          </a:prstGeom>
          <a:solidFill>
            <a:srgbClr val="B6D6F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97" y="4597003"/>
            <a:ext cx="106561" cy="8527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3237" y="4568726"/>
            <a:ext cx="824656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zh-CN" altLang="en-US" sz="6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境外坐标透传，不进行 GCJ-02 转换，保证全球精度一致</a:t>
            </a:r>
            <a:endParaRPr lang="zh-CN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6993"/>
            <a:ext cx="260226" cy="123676"/>
          </a:xfrm>
          <a:prstGeom prst="roundRect">
            <a:avLst>
              <a:gd name="adj" fmla="val 462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44934" y="371401"/>
            <a:ext cx="619795" cy="74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第4章</a:t>
            </a:r>
            <a:endParaRPr lang="zh-CN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492026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单人练习模块设计</a:t>
            </a:r>
            <a:endParaRPr lang="zh-CN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826443"/>
            <a:ext cx="860896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单人练习模式是最基础的游戏形态，无时间压力，适合新手熟悉玩法或老玩家刷题训练。</a:t>
            </a:r>
            <a:endParaRPr lang="zh-CN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994321"/>
            <a:ext cx="7890644" cy="2960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2209" y="3236462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后端计分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5502299" y="3236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提交答案</a:t>
            </a:r>
            <a:endParaRPr lang="zh-CN" sz="1400" dirty="0"/>
          </a:p>
        </p:txBody>
      </p:sp>
      <p:sp>
        <p:nvSpPr>
          <p:cNvPr id="9" name="Text 6"/>
          <p:cNvSpPr/>
          <p:nvPr/>
        </p:nvSpPr>
        <p:spPr>
          <a:xfrm>
            <a:off x="4010540" y="3236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地图标点</a:t>
            </a:r>
            <a:endParaRPr lang="zh-CN" sz="1400" dirty="0"/>
          </a:p>
        </p:txBody>
      </p:sp>
      <p:sp>
        <p:nvSpPr>
          <p:cNvPr id="10" name="Text 7"/>
          <p:cNvSpPr/>
          <p:nvPr/>
        </p:nvSpPr>
        <p:spPr>
          <a:xfrm>
            <a:off x="2518781" y="3236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展示街景</a:t>
            </a:r>
            <a:endParaRPr lang="zh-CN" sz="1400" dirty="0"/>
          </a:p>
        </p:txBody>
      </p:sp>
      <p:sp>
        <p:nvSpPr>
          <p:cNvPr id="11" name="Text 8"/>
          <p:cNvSpPr/>
          <p:nvPr/>
        </p:nvSpPr>
        <p:spPr>
          <a:xfrm>
            <a:off x="994415" y="323646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选题库</a:t>
            </a:r>
            <a:endParaRPr lang="zh-CN" sz="1400" dirty="0"/>
          </a:p>
        </p:txBody>
      </p:sp>
      <p:sp>
        <p:nvSpPr>
          <p:cNvPr id="12" name="Text 9"/>
          <p:cNvSpPr/>
          <p:nvPr/>
        </p:nvSpPr>
        <p:spPr>
          <a:xfrm>
            <a:off x="496119" y="4015308"/>
            <a:ext cx="860896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用户从选择题库开始，依次经历街景展示、地图标点、提交答案、后端计分，最终在结算面板查看双标记地图（正确答案 + 用户猜测），然后进入下一题。</a:t>
            </a:r>
            <a:endParaRPr lang="zh-CN" sz="600" dirty="0"/>
          </a:p>
        </p:txBody>
      </p:sp>
      <p:sp>
        <p:nvSpPr>
          <p:cNvPr id="13" name="Shape 10"/>
          <p:cNvSpPr/>
          <p:nvPr/>
        </p:nvSpPr>
        <p:spPr>
          <a:xfrm>
            <a:off x="437480" y="4183187"/>
            <a:ext cx="4093890" cy="613321"/>
          </a:xfrm>
          <a:prstGeom prst="roundRect">
            <a:avLst>
              <a:gd name="adj" fmla="val 932"/>
            </a:avLst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518815" y="4236541"/>
            <a:ext cx="3931221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游戏设置</a:t>
            </a:r>
            <a:endParaRPr lang="zh-CN" sz="800" dirty="0"/>
          </a:p>
        </p:txBody>
      </p:sp>
      <p:sp>
        <p:nvSpPr>
          <p:cNvPr id="15" name="Text 12"/>
          <p:cNvSpPr/>
          <p:nvPr/>
        </p:nvSpPr>
        <p:spPr>
          <a:xfrm>
            <a:off x="518815" y="4416996"/>
            <a:ext cx="3931221" cy="36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可选 </a:t>
            </a:r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 / 5 / 10</a:t>
            </a:r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题一局</a:t>
            </a:r>
            <a:endParaRPr lang="zh-CN" sz="600" dirty="0"/>
          </a:p>
          <a:p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无时间限制，自由思考</a:t>
            </a:r>
            <a:endParaRPr lang="zh-CN" sz="600" dirty="0"/>
          </a:p>
          <a:p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支持任意公共题库或自建题库</a:t>
            </a:r>
            <a:endParaRPr lang="zh-CN" sz="600" dirty="0"/>
          </a:p>
        </p:txBody>
      </p:sp>
      <p:sp>
        <p:nvSpPr>
          <p:cNvPr id="16" name="Text 13"/>
          <p:cNvSpPr/>
          <p:nvPr/>
        </p:nvSpPr>
        <p:spPr>
          <a:xfrm>
            <a:off x="4676031" y="4236541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结算面板指标</a:t>
            </a:r>
            <a:endParaRPr lang="zh-CN" sz="800" dirty="0"/>
          </a:p>
        </p:txBody>
      </p:sp>
      <p:sp>
        <p:nvSpPr>
          <p:cNvPr id="17" name="Text 14"/>
          <p:cNvSpPr/>
          <p:nvPr/>
        </p:nvSpPr>
        <p:spPr>
          <a:xfrm>
            <a:off x="4676031" y="4416996"/>
            <a:ext cx="3976613" cy="36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总分</a:t>
            </a:r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：累计各题得分</a:t>
            </a:r>
            <a:endParaRPr lang="zh-CN" sz="600" dirty="0"/>
          </a:p>
          <a:p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平均距离</a:t>
            </a:r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：各题距离均值（km）</a:t>
            </a:r>
            <a:endParaRPr lang="zh-CN" sz="600" dirty="0"/>
          </a:p>
          <a:p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最佳单题</a:t>
            </a:r>
            <a:pPr algn="l" marL="121920" indent="-121920">
              <a:lnSpc>
                <a:spcPct val="110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：得分最高的一题详情</a:t>
            </a:r>
            <a:endParaRPr lang="zh-CN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6993"/>
            <a:ext cx="248022" cy="117649"/>
          </a:xfrm>
          <a:prstGeom prst="roundRect">
            <a:avLst>
              <a:gd name="adj" fmla="val 4858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42627" y="370210"/>
            <a:ext cx="612204" cy="7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第5章</a:t>
            </a:r>
            <a:endParaRPr lang="zh-CN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483989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PvP 对战模块设计</a:t>
            </a:r>
            <a:endParaRPr lang="zh-CN" sz="1500" dirty="0"/>
          </a:p>
        </p:txBody>
      </p:sp>
      <p:sp>
        <p:nvSpPr>
          <p:cNvPr id="5" name="Text 3"/>
          <p:cNvSpPr/>
          <p:nvPr/>
        </p:nvSpPr>
        <p:spPr>
          <a:xfrm>
            <a:off x="496119" y="745629"/>
            <a:ext cx="815176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对战流程</a:t>
            </a:r>
            <a:endParaRPr lang="zh-CN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939329"/>
            <a:ext cx="310083" cy="465162"/>
          </a:xfrm>
          <a:prstGeom prst="roundRect">
            <a:avLst>
              <a:gd name="adj" fmla="val 3600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0160" dir="270000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3006" y="1099245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4646" y="1016794"/>
            <a:ext cx="779323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创建房间</a:t>
            </a:r>
            <a:endParaRPr lang="zh-CN" sz="750" dirty="0"/>
          </a:p>
        </p:txBody>
      </p:sp>
      <p:sp>
        <p:nvSpPr>
          <p:cNvPr id="9" name="Text 7"/>
          <p:cNvSpPr/>
          <p:nvPr/>
        </p:nvSpPr>
        <p:spPr>
          <a:xfrm>
            <a:off x="854646" y="1166887"/>
            <a:ext cx="779323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生成 6 位房间码，等待对手加入</a:t>
            </a:r>
            <a:endParaRPr lang="zh-CN" sz="600" dirty="0"/>
          </a:p>
        </p:txBody>
      </p:sp>
      <p:sp>
        <p:nvSpPr>
          <p:cNvPr id="10" name="Shape 8"/>
          <p:cNvSpPr/>
          <p:nvPr/>
        </p:nvSpPr>
        <p:spPr>
          <a:xfrm>
            <a:off x="496119" y="1452935"/>
            <a:ext cx="310083" cy="465162"/>
          </a:xfrm>
          <a:prstGeom prst="roundRect">
            <a:avLst>
              <a:gd name="adj" fmla="val 3600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0160" dir="270000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3006" y="1612850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4646" y="1530400"/>
            <a:ext cx="779323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加入对战</a:t>
            </a:r>
            <a:endParaRPr lang="zh-CN" sz="750" dirty="0"/>
          </a:p>
        </p:txBody>
      </p:sp>
      <p:sp>
        <p:nvSpPr>
          <p:cNvPr id="13" name="Text 11"/>
          <p:cNvSpPr/>
          <p:nvPr/>
        </p:nvSpPr>
        <p:spPr>
          <a:xfrm>
            <a:off x="854646" y="1680493"/>
            <a:ext cx="779323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输入房间码，进入准备状态</a:t>
            </a:r>
            <a:endParaRPr lang="zh-CN" sz="600" dirty="0"/>
          </a:p>
        </p:txBody>
      </p:sp>
      <p:sp>
        <p:nvSpPr>
          <p:cNvPr id="14" name="Shape 12"/>
          <p:cNvSpPr/>
          <p:nvPr/>
        </p:nvSpPr>
        <p:spPr>
          <a:xfrm>
            <a:off x="496119" y="1966540"/>
            <a:ext cx="310083" cy="465162"/>
          </a:xfrm>
          <a:prstGeom prst="roundRect">
            <a:avLst>
              <a:gd name="adj" fmla="val 3600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0160" dir="2700000">
              <a:srgbClr val="151617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3006" y="2126456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646" y="2044005"/>
            <a:ext cx="779323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选角色与卡牌</a:t>
            </a:r>
            <a:endParaRPr lang="zh-CN" sz="750" dirty="0"/>
          </a:p>
        </p:txBody>
      </p:sp>
      <p:sp>
        <p:nvSpPr>
          <p:cNvPr id="17" name="Text 15"/>
          <p:cNvSpPr/>
          <p:nvPr/>
        </p:nvSpPr>
        <p:spPr>
          <a:xfrm>
            <a:off x="854646" y="2194099"/>
            <a:ext cx="779323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30 秒倒计时，双方独立选择</a:t>
            </a:r>
            <a:endParaRPr lang="zh-CN" sz="600" dirty="0"/>
          </a:p>
        </p:txBody>
      </p:sp>
      <p:sp>
        <p:nvSpPr>
          <p:cNvPr id="18" name="Shape 16"/>
          <p:cNvSpPr/>
          <p:nvPr/>
        </p:nvSpPr>
        <p:spPr>
          <a:xfrm>
            <a:off x="496119" y="2480146"/>
            <a:ext cx="310083" cy="465162"/>
          </a:xfrm>
          <a:prstGeom prst="roundRect">
            <a:avLst>
              <a:gd name="adj" fmla="val 3600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0160" dir="2700000">
              <a:srgbClr val="151617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3006" y="2640062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4646" y="2557611"/>
            <a:ext cx="779323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多轮答题</a:t>
            </a:r>
            <a:endParaRPr lang="zh-CN" sz="750" dirty="0"/>
          </a:p>
        </p:txBody>
      </p:sp>
      <p:sp>
        <p:nvSpPr>
          <p:cNvPr id="21" name="Text 19"/>
          <p:cNvSpPr/>
          <p:nvPr/>
        </p:nvSpPr>
        <p:spPr>
          <a:xfrm>
            <a:off x="854646" y="2707704"/>
            <a:ext cx="779323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同步出题，每轮公布双方得分</a:t>
            </a:r>
            <a:endParaRPr lang="zh-CN" sz="600" dirty="0"/>
          </a:p>
        </p:txBody>
      </p:sp>
      <p:sp>
        <p:nvSpPr>
          <p:cNvPr id="22" name="Shape 20"/>
          <p:cNvSpPr/>
          <p:nvPr/>
        </p:nvSpPr>
        <p:spPr>
          <a:xfrm>
            <a:off x="496119" y="2993752"/>
            <a:ext cx="310083" cy="465162"/>
          </a:xfrm>
          <a:prstGeom prst="roundRect">
            <a:avLst>
              <a:gd name="adj" fmla="val 3600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0160" dir="2700000">
              <a:srgbClr val="151617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3006" y="315366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646" y="3071217"/>
            <a:ext cx="779323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结算胜负</a:t>
            </a:r>
            <a:endParaRPr lang="zh-CN" sz="750" dirty="0"/>
          </a:p>
        </p:txBody>
      </p:sp>
      <p:sp>
        <p:nvSpPr>
          <p:cNvPr id="25" name="Text 23"/>
          <p:cNvSpPr/>
          <p:nvPr/>
        </p:nvSpPr>
        <p:spPr>
          <a:xfrm>
            <a:off x="854646" y="3221310"/>
            <a:ext cx="779323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总分高者获胜，记录对战历史</a:t>
            </a:r>
            <a:endParaRPr lang="zh-CN" sz="600" dirty="0"/>
          </a:p>
        </p:txBody>
      </p:sp>
      <p:sp>
        <p:nvSpPr>
          <p:cNvPr id="26" name="Text 24"/>
          <p:cNvSpPr/>
          <p:nvPr/>
        </p:nvSpPr>
        <p:spPr>
          <a:xfrm>
            <a:off x="496119" y="3561829"/>
            <a:ext cx="398130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房间状态机</a:t>
            </a:r>
            <a:endParaRPr lang="zh-CN" sz="750" dirty="0"/>
          </a:p>
        </p:txBody>
      </p:sp>
      <p:sp>
        <p:nvSpPr>
          <p:cNvPr id="27" name="Text 25"/>
          <p:cNvSpPr/>
          <p:nvPr/>
        </p:nvSpPr>
        <p:spPr>
          <a:xfrm>
            <a:off x="496119" y="3731344"/>
            <a:ext cx="3981301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waiting → ready → selecting → playing → finished</a:t>
            </a:r>
            <a:endParaRPr lang="en-US" sz="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状态变更由后端统一驱动，前端通过 WebSocket 推送同步。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71343" y="3561829"/>
            <a:ext cx="398130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技能与卡牌交互规则</a:t>
            </a:r>
            <a:endParaRPr lang="zh-CN" sz="7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1818" y="3727847"/>
            <a:ext cx="3990826" cy="28932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767858" y="3737372"/>
            <a:ext cx="388478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被动技能</a:t>
            </a:r>
            <a:endParaRPr lang="zh-CN" sz="750" dirty="0"/>
          </a:p>
        </p:txBody>
      </p:sp>
      <p:sp>
        <p:nvSpPr>
          <p:cNvPr id="31" name="Text 28"/>
          <p:cNvSpPr/>
          <p:nvPr/>
        </p:nvSpPr>
        <p:spPr>
          <a:xfrm>
            <a:off x="4767858" y="3906887"/>
            <a:ext cx="388478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全程自动生效，如 </a:t>
            </a:r>
            <a:pPr algn="l" indent="0" marL="0">
              <a:lnSpc>
                <a:spcPct val="108000"/>
              </a:lnSpc>
              <a:buNone/>
            </a:pPr>
            <a:r>
              <a:rPr lang="zh-CN" alt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Gambler</a:t>
            </a:r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角色使分数波动±20%</a:t>
            </a:r>
            <a:endParaRPr lang="zh-CN" sz="6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1818" y="4095006"/>
            <a:ext cx="3990826" cy="28932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767858" y="4104531"/>
            <a:ext cx="388478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主动技能</a:t>
            </a:r>
            <a:endParaRPr lang="zh-CN" sz="750" dirty="0"/>
          </a:p>
        </p:txBody>
      </p:sp>
      <p:sp>
        <p:nvSpPr>
          <p:cNvPr id="34" name="Text 30"/>
          <p:cNvSpPr/>
          <p:nvPr/>
        </p:nvSpPr>
        <p:spPr>
          <a:xfrm>
            <a:off x="4767858" y="4274046"/>
            <a:ext cx="388478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每局限用 1 次，需手动触发，有独立冷却逻辑</a:t>
            </a:r>
            <a:endParaRPr lang="zh-CN" sz="6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1818" y="4462165"/>
            <a:ext cx="3990826" cy="28932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67858" y="4471690"/>
            <a:ext cx="388478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卡牌系统</a:t>
            </a:r>
            <a:endParaRPr lang="zh-CN" sz="750" dirty="0"/>
          </a:p>
        </p:txBody>
      </p:sp>
      <p:sp>
        <p:nvSpPr>
          <p:cNvPr id="37" name="Text 32"/>
          <p:cNvSpPr/>
          <p:nvPr/>
        </p:nvSpPr>
        <p:spPr>
          <a:xfrm>
            <a:off x="4767858" y="4641205"/>
            <a:ext cx="388478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每轮最多使用 1 张；</a:t>
            </a:r>
            <a:pPr algn="l" indent="0" marL="0">
              <a:lnSpc>
                <a:spcPct val="108000"/>
              </a:lnSpc>
              <a:buNone/>
            </a:pPr>
            <a:r>
              <a:rPr lang="zh-CN" alt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传说卡</a:t>
            </a:r>
            <a:pPr algn="l" indent="0" marL="0">
              <a:lnSpc>
                <a:spcPct val="108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使用后永久消耗，策略性强</a:t>
            </a:r>
            <a:endParaRPr lang="zh-CN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51532"/>
            <a:ext cx="278978" cy="132457"/>
          </a:xfrm>
          <a:prstGeom prst="roundRect">
            <a:avLst>
              <a:gd name="adj" fmla="val 4315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3977432" y="377651"/>
            <a:ext cx="631552" cy="8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第6章</a:t>
            </a:r>
            <a:endParaRPr lang="zh-CN" sz="500" dirty="0"/>
          </a:p>
        </p:txBody>
      </p:sp>
      <p:sp>
        <p:nvSpPr>
          <p:cNvPr id="5" name="Text 2"/>
          <p:cNvSpPr/>
          <p:nvPr/>
        </p:nvSpPr>
        <p:spPr>
          <a:xfrm>
            <a:off x="3925119" y="508471"/>
            <a:ext cx="4722763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大逃杀模块设计</a:t>
            </a:r>
            <a:endParaRPr lang="zh-CN" sz="1700" dirty="0"/>
          </a:p>
        </p:txBody>
      </p:sp>
      <p:sp>
        <p:nvSpPr>
          <p:cNvPr id="6" name="Text 3"/>
          <p:cNvSpPr/>
          <p:nvPr/>
        </p:nvSpPr>
        <p:spPr>
          <a:xfrm>
            <a:off x="3925119" y="872951"/>
            <a:ext cx="517996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大逃杀模式是 GeoguessrEX 最具竞技张力的玩法——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最多 8 人同题竞技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，每轮最低分玩家被淘汰，直至最后一人存活。</a:t>
            </a:r>
            <a:endParaRPr lang="zh-CN" sz="650" dirty="0"/>
          </a:p>
        </p:txBody>
      </p:sp>
      <p:sp>
        <p:nvSpPr>
          <p:cNvPr id="7" name="Shape 4"/>
          <p:cNvSpPr/>
          <p:nvPr/>
        </p:nvSpPr>
        <p:spPr>
          <a:xfrm>
            <a:off x="3925119" y="1060698"/>
            <a:ext cx="4722763" cy="798686"/>
          </a:xfrm>
          <a:prstGeom prst="roundRect">
            <a:avLst>
              <a:gd name="adj" fmla="val 71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17094" y="1152674"/>
            <a:ext cx="261640" cy="261640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9053" y="1224558"/>
            <a:ext cx="117723" cy="1177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17094" y="1475631"/>
            <a:ext cx="4538811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多人同题竞技</a:t>
            </a:r>
            <a:endParaRPr lang="zh-CN" sz="850" dirty="0"/>
          </a:p>
        </p:txBody>
      </p:sp>
      <p:sp>
        <p:nvSpPr>
          <p:cNvPr id="11" name="Text 7"/>
          <p:cNvSpPr/>
          <p:nvPr/>
        </p:nvSpPr>
        <p:spPr>
          <a:xfrm>
            <a:off x="4017094" y="1648644"/>
            <a:ext cx="4538811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最多 8 名玩家进入同一房间，使用相同题目序列，公平竞技</a:t>
            </a:r>
            <a:endParaRPr lang="zh-CN" sz="650" dirty="0"/>
          </a:p>
        </p:txBody>
      </p:sp>
      <p:sp>
        <p:nvSpPr>
          <p:cNvPr id="12" name="Shape 8"/>
          <p:cNvSpPr/>
          <p:nvPr/>
        </p:nvSpPr>
        <p:spPr>
          <a:xfrm>
            <a:off x="3925119" y="1920701"/>
            <a:ext cx="4722763" cy="798686"/>
          </a:xfrm>
          <a:prstGeom prst="roundRect">
            <a:avLst>
              <a:gd name="adj" fmla="val 71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017094" y="2012677"/>
            <a:ext cx="261640" cy="261640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9053" y="2084561"/>
            <a:ext cx="117723" cy="1177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17094" y="2335634"/>
            <a:ext cx="4538811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逐轮淘汰机制</a:t>
            </a:r>
            <a:endParaRPr lang="zh-CN" sz="850" dirty="0"/>
          </a:p>
        </p:txBody>
      </p:sp>
      <p:sp>
        <p:nvSpPr>
          <p:cNvPr id="16" name="Text 11"/>
          <p:cNvSpPr/>
          <p:nvPr/>
        </p:nvSpPr>
        <p:spPr>
          <a:xfrm>
            <a:off x="4017094" y="2508647"/>
            <a:ext cx="4538811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每轮结束后，得分最低的玩家立即淘汰；平分时按答题耗时判定</a:t>
            </a:r>
            <a:endParaRPr lang="zh-CN" sz="650" dirty="0"/>
          </a:p>
        </p:txBody>
      </p:sp>
      <p:sp>
        <p:nvSpPr>
          <p:cNvPr id="17" name="Shape 12"/>
          <p:cNvSpPr/>
          <p:nvPr/>
        </p:nvSpPr>
        <p:spPr>
          <a:xfrm>
            <a:off x="3925119" y="2780705"/>
            <a:ext cx="4722763" cy="798686"/>
          </a:xfrm>
          <a:prstGeom prst="roundRect">
            <a:avLst>
              <a:gd name="adj" fmla="val 71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017094" y="2872680"/>
            <a:ext cx="261640" cy="261640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9053" y="2944564"/>
            <a:ext cx="117723" cy="1177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17094" y="3195637"/>
            <a:ext cx="4538811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Guardian 被动技能</a:t>
            </a:r>
            <a:endParaRPr lang="zh-CN" sz="850" dirty="0"/>
          </a:p>
        </p:txBody>
      </p:sp>
      <p:sp>
        <p:nvSpPr>
          <p:cNvPr id="21" name="Text 15"/>
          <p:cNvSpPr/>
          <p:nvPr/>
        </p:nvSpPr>
        <p:spPr>
          <a:xfrm>
            <a:off x="4017094" y="3368650"/>
            <a:ext cx="4538811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选择 Guardian 角色的玩家，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首次被淘汰时免疫一次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，可复活继续参赛</a:t>
            </a:r>
            <a:endParaRPr lang="zh-CN" sz="650" dirty="0"/>
          </a:p>
        </p:txBody>
      </p:sp>
      <p:sp>
        <p:nvSpPr>
          <p:cNvPr id="22" name="Shape 16"/>
          <p:cNvSpPr/>
          <p:nvPr/>
        </p:nvSpPr>
        <p:spPr>
          <a:xfrm>
            <a:off x="3925119" y="3640708"/>
            <a:ext cx="4722763" cy="803449"/>
          </a:xfrm>
          <a:prstGeom prst="roundRect">
            <a:avLst>
              <a:gd name="adj" fmla="val 71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017094" y="3732684"/>
            <a:ext cx="261640" cy="261640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89053" y="3804568"/>
            <a:ext cx="117723" cy="11772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17094" y="4055641"/>
            <a:ext cx="4538811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数据表设计</a:t>
            </a:r>
            <a:endParaRPr lang="zh-CN" sz="850" dirty="0"/>
          </a:p>
        </p:txBody>
      </p:sp>
      <p:sp>
        <p:nvSpPr>
          <p:cNvPr id="26" name="Text 19"/>
          <p:cNvSpPr/>
          <p:nvPr/>
        </p:nvSpPr>
        <p:spPr>
          <a:xfrm>
            <a:off x="4017094" y="4228654"/>
            <a:ext cx="4538811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br_rooms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存储房间状态，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br_players</a:t>
            </a:r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记录玩家得分与淘汰轮次；与 PvP 共享角色与卡牌系统</a:t>
            </a:r>
            <a:endParaRPr lang="zh-CN" sz="650" dirty="0"/>
          </a:p>
        </p:txBody>
      </p:sp>
      <p:sp>
        <p:nvSpPr>
          <p:cNvPr id="27" name="Shape 20"/>
          <p:cNvSpPr/>
          <p:nvPr/>
        </p:nvSpPr>
        <p:spPr>
          <a:xfrm>
            <a:off x="3925119" y="4513138"/>
            <a:ext cx="4722763" cy="278829"/>
          </a:xfrm>
          <a:prstGeom prst="roundRect">
            <a:avLst>
              <a:gd name="adj" fmla="val 2050"/>
            </a:avLst>
          </a:prstGeom>
          <a:solidFill>
            <a:srgbClr val="E4E6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2332" y="4626769"/>
            <a:ext cx="109017" cy="872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208562" y="4596259"/>
            <a:ext cx="4809306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6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大逃杀模式复用 PvP 的角色卡牌体系，降低系统复杂度，同时提供截然不同的游戏体验。</a:t>
            </a:r>
            <a:endParaRPr lang="zh-CN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728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上篇总结与下篇预告</a:t>
            </a:r>
            <a:endParaRPr lang="zh-CN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340867"/>
            <a:ext cx="4103191" cy="3035350"/>
          </a:xfrm>
          <a:prstGeom prst="roundRect">
            <a:avLst>
              <a:gd name="adj" fmla="val 188"/>
            </a:avLst>
          </a:prstGeom>
          <a:solidFill>
            <a:srgbClr val="151617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464841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上篇核心回顾</a:t>
            </a:r>
            <a:endParaRPr lang="zh-CN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304" y="1804318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822" y="1798216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用户认证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：四级角色 + PBKDF2 加密 + JWT 鉴权，前后端双层防护</a:t>
            </a:r>
            <a:endParaRPr lang="zh-CN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304" y="2449264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822" y="2443163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题库系统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：两级模型 + 双上传方式 + 审核状态机，保障内容质量</a:t>
            </a:r>
            <a:endParaRPr lang="zh-CN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304" y="3094211"/>
            <a:ext cx="186035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3822" y="3088109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游戏引擎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：指数评分公式 + WGS-84/GCJ-02 坐标管线，精度与合规兼顾</a:t>
            </a:r>
            <a:endParaRPr lang="zh-CN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304" y="3739158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3822" y="3733056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三大玩法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：单人练习 · PvP 对战 · 大逃杀，覆盖休闲到竞技全场景</a:t>
            </a:r>
            <a:endParaRPr lang="zh-CN" sz="950" dirty="0"/>
          </a:p>
        </p:txBody>
      </p:sp>
      <p:sp>
        <p:nvSpPr>
          <p:cNvPr id="13" name="Text 7"/>
          <p:cNvSpPr/>
          <p:nvPr/>
        </p:nvSpPr>
        <p:spPr>
          <a:xfrm>
            <a:off x="4728046" y="1464841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下篇预告</a:t>
            </a:r>
            <a:endParaRPr lang="zh-CN" sz="1200" dirty="0"/>
          </a:p>
        </p:txBody>
      </p:sp>
      <p:sp>
        <p:nvSpPr>
          <p:cNvPr id="14" name="Text 8"/>
          <p:cNvSpPr/>
          <p:nvPr/>
        </p:nvSpPr>
        <p:spPr>
          <a:xfrm>
            <a:off x="4728046" y="1782663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下篇将深入以下模块，完整呈现 GeoguessrEX 的产品与技术全貌：</a:t>
            </a:r>
            <a:endParaRPr lang="zh-CN" sz="950" dirty="0"/>
          </a:p>
        </p:txBody>
      </p:sp>
      <p:sp>
        <p:nvSpPr>
          <p:cNvPr id="15" name="Shape 9"/>
          <p:cNvSpPr/>
          <p:nvPr/>
        </p:nvSpPr>
        <p:spPr>
          <a:xfrm>
            <a:off x="4728046" y="2120652"/>
            <a:ext cx="1900312" cy="996032"/>
          </a:xfrm>
          <a:prstGeom prst="roundRect">
            <a:avLst>
              <a:gd name="adj" fmla="val 574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4866308" y="2258913"/>
            <a:ext cx="162378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每日挑战</a:t>
            </a:r>
            <a:endParaRPr lang="zh-CN" sz="1200" dirty="0"/>
          </a:p>
        </p:txBody>
      </p:sp>
      <p:sp>
        <p:nvSpPr>
          <p:cNvPr id="17" name="Text 11"/>
          <p:cNvSpPr/>
          <p:nvPr/>
        </p:nvSpPr>
        <p:spPr>
          <a:xfrm>
            <a:off x="4866308" y="2581498"/>
            <a:ext cx="162378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全球统一题目，排行榜竞争机制</a:t>
            </a:r>
            <a:endParaRPr lang="zh-CN" sz="950" dirty="0"/>
          </a:p>
        </p:txBody>
      </p:sp>
      <p:sp>
        <p:nvSpPr>
          <p:cNvPr id="18" name="Shape 12"/>
          <p:cNvSpPr/>
          <p:nvPr/>
        </p:nvSpPr>
        <p:spPr>
          <a:xfrm>
            <a:off x="6752332" y="2120652"/>
            <a:ext cx="1900312" cy="996032"/>
          </a:xfrm>
          <a:prstGeom prst="roundRect">
            <a:avLst>
              <a:gd name="adj" fmla="val 574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890593" y="2258913"/>
            <a:ext cx="162378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角色卡牌系统</a:t>
            </a:r>
            <a:endParaRPr lang="zh-CN" sz="1200" dirty="0"/>
          </a:p>
        </p:txBody>
      </p:sp>
      <p:sp>
        <p:nvSpPr>
          <p:cNvPr id="20" name="Text 14"/>
          <p:cNvSpPr/>
          <p:nvPr/>
        </p:nvSpPr>
        <p:spPr>
          <a:xfrm>
            <a:off x="6890593" y="2581498"/>
            <a:ext cx="162378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角色设计、卡牌稀有度与获取途径</a:t>
            </a:r>
            <a:endParaRPr lang="zh-CN" sz="950" dirty="0"/>
          </a:p>
        </p:txBody>
      </p:sp>
      <p:sp>
        <p:nvSpPr>
          <p:cNvPr id="21" name="Shape 15"/>
          <p:cNvSpPr/>
          <p:nvPr/>
        </p:nvSpPr>
        <p:spPr>
          <a:xfrm>
            <a:off x="4728046" y="3240658"/>
            <a:ext cx="1900312" cy="996032"/>
          </a:xfrm>
          <a:prstGeom prst="roundRect">
            <a:avLst>
              <a:gd name="adj" fmla="val 574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866308" y="3378919"/>
            <a:ext cx="162378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社交与经济系统</a:t>
            </a:r>
            <a:endParaRPr lang="zh-CN" sz="1200" dirty="0"/>
          </a:p>
        </p:txBody>
      </p:sp>
      <p:sp>
        <p:nvSpPr>
          <p:cNvPr id="23" name="Text 17"/>
          <p:cNvSpPr/>
          <p:nvPr/>
        </p:nvSpPr>
        <p:spPr>
          <a:xfrm>
            <a:off x="4866308" y="3701504"/>
            <a:ext cx="162378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好友、公会、虚拟货币、赛季通行证</a:t>
            </a:r>
            <a:endParaRPr lang="zh-CN" sz="950" dirty="0"/>
          </a:p>
        </p:txBody>
      </p:sp>
      <p:sp>
        <p:nvSpPr>
          <p:cNvPr id="24" name="Shape 18"/>
          <p:cNvSpPr/>
          <p:nvPr/>
        </p:nvSpPr>
        <p:spPr>
          <a:xfrm>
            <a:off x="6752332" y="3240658"/>
            <a:ext cx="1900312" cy="996032"/>
          </a:xfrm>
          <a:prstGeom prst="roundRect">
            <a:avLst>
              <a:gd name="adj" fmla="val 574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890593" y="3378919"/>
            <a:ext cx="162378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安全与运维</a:t>
            </a:r>
            <a:endParaRPr lang="zh-CN" sz="1200" dirty="0"/>
          </a:p>
        </p:txBody>
      </p:sp>
      <p:sp>
        <p:nvSpPr>
          <p:cNvPr id="26" name="Text 20"/>
          <p:cNvSpPr/>
          <p:nvPr/>
        </p:nvSpPr>
        <p:spPr>
          <a:xfrm>
            <a:off x="6890593" y="3701504"/>
            <a:ext cx="162378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反作弊、API 限流、管理后台设计</a:t>
            </a:r>
            <a:endParaRPr lang="zh-CN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2026-07-11T06:49:46Z</dcterms:created>
  <dcterms:modified xsi:type="dcterms:W3CDTF">2026-07-11T06:49:46Z</dcterms:modified>
</cp:coreProperties>
</file>