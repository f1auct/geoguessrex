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consolata Medium"/>
      <p:regular r:id="rId201314"/>
    </p:embeddedFont>
    <p:embeddedFont>
      <p:font typeface="Inconsolata"/>
      <p:regular r:id="rId201315"/>
    </p:embeddedFont>
    <p:embeddedFont>
      <p:font typeface="Inconsolata ExtraBold"/>
      <p:regular r:id="rId201316"/>
    </p:embeddedFont>
    <p:embeddedFont>
      <p:font typeface="Inconsolata Black"/>
      <p:regular r:id="rId201317"/>
    </p:embeddedFont>
    <p:embeddedFont>
      <p:font typeface="Inconsolata ExtraLight"/>
      <p:regular r:id="rId201318"/>
    </p:embeddedFont>
    <p:embeddedFont>
      <p:font typeface="Inconsolata Light"/>
      <p:regular r:id="rId201319"/>
    </p:embeddedFont>
    <p:embeddedFont>
      <p:font typeface="Inconsolata SemiBold"/>
      <p:regular r:id="rId201320"/>
    </p:embeddedFont>
    <p:embeddedFont>
      <p:font typeface="Inconsolata Bold"/>
      <p:regular r:id="rId201321"/>
    </p:embeddedFont>
    <p:embeddedFont>
      <p:font typeface="Montserrat Thin"/>
      <p:regular r:id="rId201322"/>
    </p:embeddedFont>
    <p:embeddedFont>
      <p:font typeface="Montserrat"/>
      <p:regular r:id="rId201323"/>
    </p:embeddedFont>
    <p:embeddedFont>
      <p:font typeface="Montserrat SemiBold"/>
      <p:regular r:id="rId201324"/>
    </p:embeddedFont>
    <p:embeddedFont>
      <p:font typeface="Montserrat Bold"/>
      <p:regular r:id="rId201325"/>
    </p:embeddedFont>
    <p:embeddedFont>
      <p:font typeface="Montserrat Black"/>
      <p:regular r:id="rId201326"/>
    </p:embeddedFont>
    <p:embeddedFont>
      <p:font typeface="Montserrat Light"/>
      <p:regular r:id="rId201327"/>
    </p:embeddedFont>
    <p:embeddedFont>
      <p:font typeface="Montserrat ExtraLight"/>
      <p:regular r:id="rId201328"/>
    </p:embeddedFont>
    <p:embeddedFont>
      <p:font typeface="Montserrat Medium"/>
      <p:regular r:id="rId201329"/>
    </p:embeddedFont>
    <p:embeddedFont>
      <p:font typeface="Montserrat ExtraBold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868165"/>
            <a:ext cx="1537543" cy="188565"/>
          </a:xfrm>
          <a:prstGeom prst="roundRect">
            <a:avLst>
              <a:gd name="adj" fmla="val 3031"/>
            </a:avLst>
          </a:prstGeom>
          <a:noFill/>
          <a:ln w="4763">
            <a:solidFill>
              <a:srgbClr val="15161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70533" y="1905372"/>
            <a:ext cx="184591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GEOGUESSREX · 概要设计（下）</a:t>
            </a:r>
            <a:endParaRPr lang="zh-CN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2106290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核心模块与架构设计</a:t>
            </a:r>
            <a:endParaRPr lang="zh-CN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2679874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本部分覆盖第7至15章，涵盖每日挑战、角色卡牌、社交互动、经济系统、赛季通行证、管理后台、数据库、API 接口及前端架构等核心模块，完整呈现 GeoguessrEX 的产品全貌与技术实现路径。</a:t>
            </a:r>
            <a:endParaRPr lang="zh-CN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154162"/>
            <a:ext cx="396850" cy="188565"/>
          </a:xfrm>
          <a:prstGeom prst="roundRect">
            <a:avLst>
              <a:gd name="adj" fmla="val 3031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1191369"/>
            <a:ext cx="70522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第7章</a:t>
            </a:r>
            <a:endParaRPr lang="zh-CN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39228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每日挑战与国家连胜模块</a:t>
            </a:r>
            <a:endParaRPr lang="zh-CN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96587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两种轻量玩法模式，以低门槛、高频率的参与机制提升用户日活与留存，同时通过排行榜激发竞争欲。</a:t>
            </a:r>
            <a:endParaRPr lang="zh-CN" sz="950" dirty="0"/>
          </a:p>
        </p:txBody>
      </p:sp>
      <p:sp>
        <p:nvSpPr>
          <p:cNvPr id="6" name="Shape 4"/>
          <p:cNvSpPr/>
          <p:nvPr/>
        </p:nvSpPr>
        <p:spPr>
          <a:xfrm>
            <a:off x="406822" y="2303859"/>
            <a:ext cx="4103191" cy="1685404"/>
          </a:xfrm>
          <a:prstGeom prst="roundRect">
            <a:avLst>
              <a:gd name="adj" fmla="val 339"/>
            </a:avLst>
          </a:prstGeom>
          <a:solidFill>
            <a:srgbClr val="151617"/>
          </a:solidFill>
          <a:ln/>
        </p:spPr>
      </p:sp>
      <p:sp>
        <p:nvSpPr>
          <p:cNvPr id="7" name="Text 5"/>
          <p:cNvSpPr/>
          <p:nvPr/>
        </p:nvSpPr>
        <p:spPr>
          <a:xfrm>
            <a:off x="530796" y="2427833"/>
            <a:ext cx="3855244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每日挑战</a:t>
            </a:r>
            <a:endParaRPr lang="zh-CN" sz="1200" dirty="0"/>
          </a:p>
        </p:txBody>
      </p:sp>
      <p:sp>
        <p:nvSpPr>
          <p:cNvPr id="8" name="Text 6"/>
          <p:cNvSpPr/>
          <p:nvPr/>
        </p:nvSpPr>
        <p:spPr>
          <a:xfrm>
            <a:off x="530796" y="2750418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全服统一推送 3 道题目，所有玩家在同一时间面对相同挑战，营造集体参与感。</a:t>
            </a:r>
            <a:endParaRPr lang="zh-CN" sz="950" dirty="0"/>
          </a:p>
        </p:txBody>
      </p:sp>
      <p:sp>
        <p:nvSpPr>
          <p:cNvPr id="9" name="Text 7"/>
          <p:cNvSpPr/>
          <p:nvPr/>
        </p:nvSpPr>
        <p:spPr>
          <a:xfrm>
            <a:off x="530796" y="3258964"/>
            <a:ext cx="3855244" cy="686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签到打卡机制，培养每日登录习惯</a:t>
            </a:r>
            <a:endParaRPr lang="zh-CN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连续参与解锁累积奖励</a:t>
            </a:r>
            <a:endParaRPr lang="zh-CN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数据表：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daily_challenges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/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check_ins</a:t>
            </a:r>
            <a:endParaRPr lang="zh-CN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2427833"/>
            <a:ext cx="3924598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国家连胜</a:t>
            </a:r>
            <a:endParaRPr lang="zh-CN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2750418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仅判断国家层级，不要求精确坐标，降低难度门槛，强调连续正确带来的成就感。</a:t>
            </a:r>
            <a:endParaRPr lang="zh-CN" sz="950" dirty="0"/>
          </a:p>
        </p:txBody>
      </p:sp>
      <p:sp>
        <p:nvSpPr>
          <p:cNvPr id="12" name="Text 10"/>
          <p:cNvSpPr/>
          <p:nvPr/>
        </p:nvSpPr>
        <p:spPr>
          <a:xfrm>
            <a:off x="4728046" y="3258964"/>
            <a:ext cx="3924598" cy="686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猜对继续，猜错连胜归零</a:t>
            </a:r>
            <a:endParaRPr lang="zh-CN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按历史最高连胜进行全服排行</a:t>
            </a:r>
            <a:endParaRPr lang="zh-CN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数据表：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country_streaks</a:t>
            </a:r>
            <a:endParaRPr lang="zh-CN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486"/>
            <a:ext cx="297507" cy="141387"/>
          </a:xfrm>
          <a:prstGeom prst="roundRect">
            <a:avLst>
              <a:gd name="adj" fmla="val 4042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51929" y="369391"/>
            <a:ext cx="643086" cy="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第8章</a:t>
            </a:r>
            <a:endParaRPr lang="zh-CN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10778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角色卡牌模块设计</a:t>
            </a:r>
            <a:endParaRPr lang="zh-CN" sz="1800" dirty="0"/>
          </a:p>
        </p:txBody>
      </p:sp>
      <p:sp>
        <p:nvSpPr>
          <p:cNvPr id="5" name="Text 3"/>
          <p:cNvSpPr/>
          <p:nvPr/>
        </p:nvSpPr>
        <p:spPr>
          <a:xfrm>
            <a:off x="496119" y="906140"/>
            <a:ext cx="86089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6 名角色与 10 张卡牌构成完整的收集与战斗体系，稀有度分层（普通 → 稀有 → 史诗 → 传说）驱动玩家持续追求。</a:t>
            </a:r>
            <a:endParaRPr lang="zh-CN" sz="700" dirty="0"/>
          </a:p>
        </p:txBody>
      </p:sp>
      <p:sp>
        <p:nvSpPr>
          <p:cNvPr id="6" name="Text 4"/>
          <p:cNvSpPr/>
          <p:nvPr/>
        </p:nvSpPr>
        <p:spPr>
          <a:xfrm>
            <a:off x="496119" y="1140991"/>
            <a:ext cx="815176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角色系统</a:t>
            </a:r>
            <a:endParaRPr lang="zh-CN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1390948"/>
            <a:ext cx="8151763" cy="1573262"/>
          </a:xfrm>
          <a:prstGeom prst="roundRect">
            <a:avLst>
              <a:gd name="adj" fmla="val 36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0881" y="1395710"/>
            <a:ext cx="8142238" cy="223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047" y="1442293"/>
            <a:ext cx="173436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角色</a:t>
            </a:r>
            <a:endParaRPr lang="zh-CN" sz="700" dirty="0"/>
          </a:p>
        </p:txBody>
      </p:sp>
      <p:sp>
        <p:nvSpPr>
          <p:cNvPr id="10" name="Text 8"/>
          <p:cNvSpPr/>
          <p:nvPr/>
        </p:nvSpPr>
        <p:spPr>
          <a:xfrm>
            <a:off x="2062014" y="1442293"/>
            <a:ext cx="173198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稀有度</a:t>
            </a:r>
            <a:endParaRPr lang="zh-CN" sz="700" dirty="0"/>
          </a:p>
        </p:txBody>
      </p:sp>
      <p:sp>
        <p:nvSpPr>
          <p:cNvPr id="11" name="Text 9"/>
          <p:cNvSpPr/>
          <p:nvPr/>
        </p:nvSpPr>
        <p:spPr>
          <a:xfrm>
            <a:off x="3527599" y="1442293"/>
            <a:ext cx="287186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被动技能</a:t>
            </a:r>
            <a:endParaRPr lang="zh-CN" sz="700" dirty="0"/>
          </a:p>
        </p:txBody>
      </p:sp>
      <p:sp>
        <p:nvSpPr>
          <p:cNvPr id="12" name="Text 10"/>
          <p:cNvSpPr/>
          <p:nvPr/>
        </p:nvSpPr>
        <p:spPr>
          <a:xfrm>
            <a:off x="6133058" y="1442293"/>
            <a:ext cx="287424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主动技能</a:t>
            </a:r>
            <a:endParaRPr lang="zh-CN" sz="700" dirty="0"/>
          </a:p>
        </p:txBody>
      </p:sp>
      <p:sp>
        <p:nvSpPr>
          <p:cNvPr id="13" name="Shape 11"/>
          <p:cNvSpPr/>
          <p:nvPr/>
        </p:nvSpPr>
        <p:spPr>
          <a:xfrm>
            <a:off x="500881" y="1619101"/>
            <a:ext cx="8142238" cy="223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047" y="1665684"/>
            <a:ext cx="173436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Explorer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062014" y="1665684"/>
            <a:ext cx="173198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普通</a:t>
            </a:r>
            <a:endParaRPr lang="zh-CN" sz="700" dirty="0"/>
          </a:p>
        </p:txBody>
      </p:sp>
      <p:sp>
        <p:nvSpPr>
          <p:cNvPr id="16" name="Text 14"/>
          <p:cNvSpPr/>
          <p:nvPr/>
        </p:nvSpPr>
        <p:spPr>
          <a:xfrm>
            <a:off x="3527599" y="1665684"/>
            <a:ext cx="287186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距离偏移提示</a:t>
            </a:r>
            <a:endParaRPr lang="zh-CN" sz="700" dirty="0"/>
          </a:p>
        </p:txBody>
      </p:sp>
      <p:sp>
        <p:nvSpPr>
          <p:cNvPr id="17" name="Text 15"/>
          <p:cNvSpPr/>
          <p:nvPr/>
        </p:nvSpPr>
        <p:spPr>
          <a:xfrm>
            <a:off x="6133058" y="1665684"/>
            <a:ext cx="287424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额外积分</a:t>
            </a:r>
            <a:endParaRPr lang="zh-CN" sz="700" dirty="0"/>
          </a:p>
        </p:txBody>
      </p:sp>
      <p:sp>
        <p:nvSpPr>
          <p:cNvPr id="18" name="Shape 16"/>
          <p:cNvSpPr/>
          <p:nvPr/>
        </p:nvSpPr>
        <p:spPr>
          <a:xfrm>
            <a:off x="500881" y="1842492"/>
            <a:ext cx="8142238" cy="223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4047" y="1889075"/>
            <a:ext cx="173436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Hunter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062014" y="1889075"/>
            <a:ext cx="173198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普通</a:t>
            </a:r>
            <a:endParaRPr lang="zh-CN" sz="700" dirty="0"/>
          </a:p>
        </p:txBody>
      </p:sp>
      <p:sp>
        <p:nvSpPr>
          <p:cNvPr id="21" name="Text 19"/>
          <p:cNvSpPr/>
          <p:nvPr/>
        </p:nvSpPr>
        <p:spPr>
          <a:xfrm>
            <a:off x="3527599" y="1889075"/>
            <a:ext cx="287186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缩小范围</a:t>
            </a:r>
            <a:endParaRPr lang="zh-CN" sz="700" dirty="0"/>
          </a:p>
        </p:txBody>
      </p:sp>
      <p:sp>
        <p:nvSpPr>
          <p:cNvPr id="22" name="Text 20"/>
          <p:cNvSpPr/>
          <p:nvPr/>
        </p:nvSpPr>
        <p:spPr>
          <a:xfrm>
            <a:off x="6133058" y="1889075"/>
            <a:ext cx="287424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精准定位</a:t>
            </a:r>
            <a:endParaRPr lang="zh-CN" sz="700" dirty="0"/>
          </a:p>
        </p:txBody>
      </p:sp>
      <p:sp>
        <p:nvSpPr>
          <p:cNvPr id="23" name="Shape 21"/>
          <p:cNvSpPr/>
          <p:nvPr/>
        </p:nvSpPr>
        <p:spPr>
          <a:xfrm>
            <a:off x="500881" y="2065883"/>
            <a:ext cx="8142238" cy="223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047" y="2112466"/>
            <a:ext cx="173436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Seer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062014" y="2112466"/>
            <a:ext cx="173198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稀有</a:t>
            </a:r>
            <a:endParaRPr lang="zh-CN" sz="700" dirty="0"/>
          </a:p>
        </p:txBody>
      </p:sp>
      <p:sp>
        <p:nvSpPr>
          <p:cNvPr id="26" name="Text 24"/>
          <p:cNvSpPr/>
          <p:nvPr/>
        </p:nvSpPr>
        <p:spPr>
          <a:xfrm>
            <a:off x="3527599" y="2112466"/>
            <a:ext cx="287186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显示区域轮廓</a:t>
            </a:r>
            <a:endParaRPr lang="zh-CN" sz="700" dirty="0"/>
          </a:p>
        </p:txBody>
      </p:sp>
      <p:sp>
        <p:nvSpPr>
          <p:cNvPr id="27" name="Text 25"/>
          <p:cNvSpPr/>
          <p:nvPr/>
        </p:nvSpPr>
        <p:spPr>
          <a:xfrm>
            <a:off x="6133058" y="2112466"/>
            <a:ext cx="287424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去干扰项</a:t>
            </a:r>
            <a:endParaRPr lang="zh-CN" sz="700" dirty="0"/>
          </a:p>
        </p:txBody>
      </p:sp>
      <p:sp>
        <p:nvSpPr>
          <p:cNvPr id="28" name="Shape 26"/>
          <p:cNvSpPr/>
          <p:nvPr/>
        </p:nvSpPr>
        <p:spPr>
          <a:xfrm>
            <a:off x="500881" y="2289274"/>
            <a:ext cx="8142238" cy="223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94047" y="2335857"/>
            <a:ext cx="173436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Swift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062014" y="2335857"/>
            <a:ext cx="173198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普通</a:t>
            </a:r>
            <a:endParaRPr lang="zh-CN" sz="700" dirty="0"/>
          </a:p>
        </p:txBody>
      </p:sp>
      <p:sp>
        <p:nvSpPr>
          <p:cNvPr id="31" name="Text 29"/>
          <p:cNvSpPr/>
          <p:nvPr/>
        </p:nvSpPr>
        <p:spPr>
          <a:xfrm>
            <a:off x="3527599" y="2335857"/>
            <a:ext cx="287186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减少超时惩罚</a:t>
            </a:r>
            <a:endParaRPr lang="zh-CN" sz="700" dirty="0"/>
          </a:p>
        </p:txBody>
      </p:sp>
      <p:sp>
        <p:nvSpPr>
          <p:cNvPr id="32" name="Text 30"/>
          <p:cNvSpPr/>
          <p:nvPr/>
        </p:nvSpPr>
        <p:spPr>
          <a:xfrm>
            <a:off x="6133058" y="2335857"/>
            <a:ext cx="287424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延时</a:t>
            </a:r>
            <a:endParaRPr lang="zh-CN" sz="700" dirty="0"/>
          </a:p>
        </p:txBody>
      </p:sp>
      <p:sp>
        <p:nvSpPr>
          <p:cNvPr id="33" name="Shape 31"/>
          <p:cNvSpPr/>
          <p:nvPr/>
        </p:nvSpPr>
        <p:spPr>
          <a:xfrm>
            <a:off x="500881" y="2512665"/>
            <a:ext cx="8142238" cy="2233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94047" y="2559248"/>
            <a:ext cx="173436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Guardian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062014" y="2559248"/>
            <a:ext cx="173198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稀有</a:t>
            </a:r>
            <a:endParaRPr lang="zh-CN" sz="700" dirty="0"/>
          </a:p>
        </p:txBody>
      </p:sp>
      <p:sp>
        <p:nvSpPr>
          <p:cNvPr id="36" name="Text 34"/>
          <p:cNvSpPr/>
          <p:nvPr/>
        </p:nvSpPr>
        <p:spPr>
          <a:xfrm>
            <a:off x="3527599" y="2559248"/>
            <a:ext cx="287186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BR 免死一次</a:t>
            </a:r>
            <a:endParaRPr lang="zh-CN" sz="700" dirty="0"/>
          </a:p>
        </p:txBody>
      </p:sp>
      <p:sp>
        <p:nvSpPr>
          <p:cNvPr id="37" name="Text 35"/>
          <p:cNvSpPr/>
          <p:nvPr/>
        </p:nvSpPr>
        <p:spPr>
          <a:xfrm>
            <a:off x="6133058" y="2559248"/>
            <a:ext cx="287424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护盾</a:t>
            </a:r>
            <a:endParaRPr lang="zh-CN" sz="700" dirty="0"/>
          </a:p>
        </p:txBody>
      </p:sp>
      <p:sp>
        <p:nvSpPr>
          <p:cNvPr id="38" name="Shape 36"/>
          <p:cNvSpPr/>
          <p:nvPr/>
        </p:nvSpPr>
        <p:spPr>
          <a:xfrm>
            <a:off x="500881" y="2736056"/>
            <a:ext cx="8142238" cy="22339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94047" y="2782639"/>
            <a:ext cx="173436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Gambler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062014" y="2782639"/>
            <a:ext cx="173198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史诗</a:t>
            </a:r>
            <a:endParaRPr lang="zh-CN" sz="700" dirty="0"/>
          </a:p>
        </p:txBody>
      </p:sp>
      <p:sp>
        <p:nvSpPr>
          <p:cNvPr id="41" name="Text 39"/>
          <p:cNvSpPr/>
          <p:nvPr/>
        </p:nvSpPr>
        <p:spPr>
          <a:xfrm>
            <a:off x="3527599" y="2782639"/>
            <a:ext cx="287186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分数波动</a:t>
            </a:r>
            <a:endParaRPr lang="zh-CN" sz="700" dirty="0"/>
          </a:p>
        </p:txBody>
      </p:sp>
      <p:sp>
        <p:nvSpPr>
          <p:cNvPr id="42" name="Text 40"/>
          <p:cNvSpPr/>
          <p:nvPr/>
        </p:nvSpPr>
        <p:spPr>
          <a:xfrm>
            <a:off x="6133058" y="2782639"/>
            <a:ext cx="287424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双倍/归零</a:t>
            </a:r>
            <a:endParaRPr lang="zh-CN" sz="700" dirty="0"/>
          </a:p>
        </p:txBody>
      </p:sp>
      <p:sp>
        <p:nvSpPr>
          <p:cNvPr id="43" name="Text 41"/>
          <p:cNvSpPr/>
          <p:nvPr/>
        </p:nvSpPr>
        <p:spPr>
          <a:xfrm>
            <a:off x="496119" y="3068836"/>
            <a:ext cx="815176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卡牌系统</a:t>
            </a:r>
            <a:endParaRPr lang="zh-CN" sz="900" dirty="0"/>
          </a:p>
        </p:txBody>
      </p:sp>
      <p:sp>
        <p:nvSpPr>
          <p:cNvPr id="44" name="Shape 42"/>
          <p:cNvSpPr/>
          <p:nvPr/>
        </p:nvSpPr>
        <p:spPr>
          <a:xfrm>
            <a:off x="496119" y="3318793"/>
            <a:ext cx="4040981" cy="512936"/>
          </a:xfrm>
          <a:prstGeom prst="roundRect">
            <a:avLst>
              <a:gd name="adj" fmla="val 1114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1430" dir="2700000">
              <a:srgbClr val="151617">
                <a:alpha val="10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3899" y="3416573"/>
            <a:ext cx="384542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普通 × 4</a:t>
            </a:r>
            <a:endParaRPr lang="zh-CN" sz="900" dirty="0"/>
          </a:p>
        </p:txBody>
      </p:sp>
      <p:sp>
        <p:nvSpPr>
          <p:cNvPr id="46" name="Text 44"/>
          <p:cNvSpPr/>
          <p:nvPr/>
        </p:nvSpPr>
        <p:spPr>
          <a:xfrm>
            <a:off x="593899" y="3603724"/>
            <a:ext cx="3845421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基础增益，易于获取</a:t>
            </a:r>
            <a:endParaRPr lang="zh-CN" sz="700" dirty="0"/>
          </a:p>
        </p:txBody>
      </p:sp>
      <p:sp>
        <p:nvSpPr>
          <p:cNvPr id="47" name="Shape 45"/>
          <p:cNvSpPr/>
          <p:nvPr/>
        </p:nvSpPr>
        <p:spPr>
          <a:xfrm>
            <a:off x="4606826" y="3318793"/>
            <a:ext cx="4041056" cy="512936"/>
          </a:xfrm>
          <a:prstGeom prst="roundRect">
            <a:avLst>
              <a:gd name="adj" fmla="val 1114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1430" dir="2700000">
              <a:srgbClr val="151617">
                <a:alpha val="10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704606" y="3416573"/>
            <a:ext cx="384549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稀有 × 3</a:t>
            </a:r>
            <a:endParaRPr lang="zh-CN" sz="900" dirty="0"/>
          </a:p>
        </p:txBody>
      </p:sp>
      <p:sp>
        <p:nvSpPr>
          <p:cNvPr id="49" name="Text 47"/>
          <p:cNvSpPr/>
          <p:nvPr/>
        </p:nvSpPr>
        <p:spPr>
          <a:xfrm>
            <a:off x="4704606" y="3603724"/>
            <a:ext cx="3845496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战术辅助，改变局势</a:t>
            </a:r>
            <a:endParaRPr lang="zh-CN" sz="700" dirty="0"/>
          </a:p>
        </p:txBody>
      </p:sp>
      <p:sp>
        <p:nvSpPr>
          <p:cNvPr id="50" name="Shape 48"/>
          <p:cNvSpPr/>
          <p:nvPr/>
        </p:nvSpPr>
        <p:spPr>
          <a:xfrm>
            <a:off x="496119" y="3901455"/>
            <a:ext cx="4040981" cy="512936"/>
          </a:xfrm>
          <a:prstGeom prst="roundRect">
            <a:avLst>
              <a:gd name="adj" fmla="val 1114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1430" dir="2700000">
              <a:srgbClr val="151617">
                <a:alpha val="10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93899" y="3999235"/>
            <a:ext cx="384542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史诗 × 2</a:t>
            </a:r>
            <a:endParaRPr lang="zh-CN" sz="900" dirty="0"/>
          </a:p>
        </p:txBody>
      </p:sp>
      <p:sp>
        <p:nvSpPr>
          <p:cNvPr id="52" name="Text 50"/>
          <p:cNvSpPr/>
          <p:nvPr/>
        </p:nvSpPr>
        <p:spPr>
          <a:xfrm>
            <a:off x="593899" y="4186386"/>
            <a:ext cx="3845421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高风险高回报机制</a:t>
            </a:r>
            <a:endParaRPr lang="zh-CN" sz="700" dirty="0"/>
          </a:p>
        </p:txBody>
      </p:sp>
      <p:sp>
        <p:nvSpPr>
          <p:cNvPr id="53" name="Shape 51"/>
          <p:cNvSpPr/>
          <p:nvPr/>
        </p:nvSpPr>
        <p:spPr>
          <a:xfrm>
            <a:off x="4606826" y="3901455"/>
            <a:ext cx="4041056" cy="512936"/>
          </a:xfrm>
          <a:prstGeom prst="roundRect">
            <a:avLst>
              <a:gd name="adj" fmla="val 1114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1430" dir="2700000">
              <a:srgbClr val="151617">
                <a:alpha val="10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704606" y="3999235"/>
            <a:ext cx="3845496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传说 × 1</a:t>
            </a:r>
            <a:endParaRPr lang="zh-CN" sz="900" dirty="0"/>
          </a:p>
        </p:txBody>
      </p:sp>
      <p:sp>
        <p:nvSpPr>
          <p:cNvPr id="55" name="Text 53"/>
          <p:cNvSpPr/>
          <p:nvPr/>
        </p:nvSpPr>
        <p:spPr>
          <a:xfrm>
            <a:off x="4704606" y="4186386"/>
            <a:ext cx="3845496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The Chosen One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：满分 5000，使用后永久消耗</a:t>
            </a:r>
            <a:endParaRPr lang="zh-CN" sz="700" dirty="0"/>
          </a:p>
        </p:txBody>
      </p:sp>
      <p:sp>
        <p:nvSpPr>
          <p:cNvPr id="56" name="Shape 54"/>
          <p:cNvSpPr/>
          <p:nvPr/>
        </p:nvSpPr>
        <p:spPr>
          <a:xfrm>
            <a:off x="496119" y="4492823"/>
            <a:ext cx="8151763" cy="309116"/>
          </a:xfrm>
          <a:prstGeom prst="roundRect">
            <a:avLst>
              <a:gd name="adj" fmla="val 1849"/>
            </a:avLst>
          </a:prstGeom>
          <a:solidFill>
            <a:srgbClr val="E4E6E7"/>
          </a:solidFill>
          <a:ln/>
        </p:spPr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136" y="4618137"/>
            <a:ext cx="116235" cy="93018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798388" y="4585767"/>
            <a:ext cx="821367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7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卡牌采用加权随机抽取机制，传说卡为一次性消耗品，制造稀缺感与使用决策张力。</a:t>
            </a:r>
            <a:endParaRPr lang="zh-CN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68585"/>
            <a:ext cx="359569" cy="170855"/>
          </a:xfrm>
          <a:prstGeom prst="roundRect">
            <a:avLst>
              <a:gd name="adj" fmla="val 3345"/>
            </a:avLst>
          </a:prstGeom>
          <a:solidFill>
            <a:srgbClr val="E4E6E7"/>
          </a:solidFill>
          <a:ln/>
        </p:spPr>
      </p:sp>
      <p:sp>
        <p:nvSpPr>
          <p:cNvPr id="4" name="Text 1"/>
          <p:cNvSpPr/>
          <p:nvPr/>
        </p:nvSpPr>
        <p:spPr>
          <a:xfrm>
            <a:off x="563538" y="502295"/>
            <a:ext cx="681930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第9章</a:t>
            </a:r>
            <a:endParaRPr lang="zh-CN" sz="700" dirty="0"/>
          </a:p>
        </p:txBody>
      </p:sp>
      <p:sp>
        <p:nvSpPr>
          <p:cNvPr id="5" name="Text 2"/>
          <p:cNvSpPr/>
          <p:nvPr/>
        </p:nvSpPr>
        <p:spPr>
          <a:xfrm>
            <a:off x="496119" y="680145"/>
            <a:ext cx="4722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社交系统模块设计</a:t>
            </a:r>
            <a:endParaRPr lang="zh-CN" sz="2200" dirty="0"/>
          </a:p>
        </p:txBody>
      </p:sp>
      <p:sp>
        <p:nvSpPr>
          <p:cNvPr id="6" name="Text 3"/>
          <p:cNvSpPr/>
          <p:nvPr/>
        </p:nvSpPr>
        <p:spPr>
          <a:xfrm>
            <a:off x="496119" y="1184225"/>
            <a:ext cx="51799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构建好友关系链、社区内容生态与互动反馈闭环，提升用户粘性与社区归属感。</a:t>
            </a:r>
            <a:endParaRPr lang="zh-CN" sz="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70273"/>
            <a:ext cx="280988" cy="2809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6119" y="1878583"/>
            <a:ext cx="472276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好友系统</a:t>
            </a:r>
            <a:endParaRPr lang="zh-CN" sz="1100" dirty="0"/>
          </a:p>
        </p:txBody>
      </p:sp>
      <p:sp>
        <p:nvSpPr>
          <p:cNvPr id="9" name="Text 5"/>
          <p:cNvSpPr/>
          <p:nvPr/>
        </p:nvSpPr>
        <p:spPr>
          <a:xfrm>
            <a:off x="496119" y="2115294"/>
            <a:ext cx="4722763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搜索 → 发送申请 → 对方同意 → 建立双向关注关系。数据表：</a:t>
            </a:r>
            <a:pPr algn="l" indent="0" marL="0">
              <a:lnSpc>
                <a:spcPct val="127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follows</a:t>
            </a:r>
            <a:pPr algn="l" indent="0" marL="0">
              <a:lnSpc>
                <a:spcPct val="127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，支持查看好友在线状态与游戏动态。</a:t>
            </a:r>
            <a:endParaRPr lang="zh-CN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666702"/>
            <a:ext cx="280988" cy="2809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075012"/>
            <a:ext cx="472276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社区广场</a:t>
            </a:r>
            <a:endParaRPr lang="zh-CN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311723"/>
            <a:ext cx="4722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支持分享战绩、失物招领、寻人启事与官方公告，集成图片上传功能，形成玩家自驱的内容生态。</a:t>
            </a:r>
            <a:endParaRPr lang="zh-CN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858369"/>
            <a:ext cx="280988" cy="2809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4266679"/>
            <a:ext cx="4722763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互动体系</a:t>
            </a:r>
            <a:endParaRPr lang="zh-CN" sz="1100" dirty="0"/>
          </a:p>
        </p:txBody>
      </p:sp>
      <p:sp>
        <p:nvSpPr>
          <p:cNvPr id="15" name="Text 9"/>
          <p:cNvSpPr/>
          <p:nvPr/>
        </p:nvSpPr>
        <p:spPr>
          <a:xfrm>
            <a:off x="496119" y="4503390"/>
            <a:ext cx="47227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评论支持嵌套回复形成讨论串；点赞为 toggle 机制防止刷量；单向关注生成个性化时间线流。</a:t>
            </a:r>
            <a:endParaRPr lang="zh-CN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84312"/>
            <a:ext cx="446410" cy="188565"/>
          </a:xfrm>
          <a:prstGeom prst="roundRect">
            <a:avLst>
              <a:gd name="adj" fmla="val 3031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721519"/>
            <a:ext cx="75478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第10章</a:t>
            </a:r>
            <a:endParaRPr lang="zh-CN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22437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经济系统模块设计</a:t>
            </a:r>
            <a:endParaRPr lang="zh-CN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9602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虚拟经济闭环由钱包、题库市场与悬赏三部分组成，平台通过交易抽成实现可持续运营，同时激励创作者生态。</a:t>
            </a:r>
            <a:endParaRPr lang="zh-CN" sz="950" dirty="0"/>
          </a:p>
        </p:txBody>
      </p:sp>
      <p:sp>
        <p:nvSpPr>
          <p:cNvPr id="6" name="Shape 4"/>
          <p:cNvSpPr/>
          <p:nvPr/>
        </p:nvSpPr>
        <p:spPr>
          <a:xfrm>
            <a:off x="406822" y="1834009"/>
            <a:ext cx="4103191" cy="2625179"/>
          </a:xfrm>
          <a:prstGeom prst="roundRect">
            <a:avLst>
              <a:gd name="adj" fmla="val 218"/>
            </a:avLst>
          </a:prstGeom>
          <a:solidFill>
            <a:srgbClr val="151617"/>
          </a:solidFill>
          <a:ln/>
        </p:spPr>
      </p:sp>
      <p:sp>
        <p:nvSpPr>
          <p:cNvPr id="7" name="Text 5"/>
          <p:cNvSpPr/>
          <p:nvPr/>
        </p:nvSpPr>
        <p:spPr>
          <a:xfrm>
            <a:off x="530796" y="1957983"/>
            <a:ext cx="3855244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钱包系统</a:t>
            </a:r>
            <a:endParaRPr lang="zh-CN" sz="1200" dirty="0"/>
          </a:p>
        </p:txBody>
      </p:sp>
      <p:sp>
        <p:nvSpPr>
          <p:cNvPr id="8" name="Text 6"/>
          <p:cNvSpPr/>
          <p:nvPr/>
        </p:nvSpPr>
        <p:spPr>
          <a:xfrm>
            <a:off x="530796" y="2280568"/>
            <a:ext cx="385524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每位用户拥有独立虚拟币余额，所有收支记录于 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coin_transactions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流水表。</a:t>
            </a:r>
            <a:endParaRPr lang="zh-CN" sz="950" dirty="0"/>
          </a:p>
        </p:txBody>
      </p:sp>
      <p:sp>
        <p:nvSpPr>
          <p:cNvPr id="9" name="Text 7"/>
          <p:cNvSpPr/>
          <p:nvPr/>
        </p:nvSpPr>
        <p:spPr>
          <a:xfrm>
            <a:off x="530796" y="2793876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充值 / 提现（模拟环境，不接真实支付）</a:t>
            </a:r>
            <a:endParaRPr lang="zh-CN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交易流水完整可追溯</a:t>
            </a:r>
            <a:endParaRPr lang="zh-CN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防刷机制内嵌于服务层</a:t>
            </a:r>
            <a:endParaRPr lang="zh-CN" sz="950" dirty="0"/>
          </a:p>
        </p:txBody>
      </p:sp>
      <p:sp>
        <p:nvSpPr>
          <p:cNvPr id="10" name="Text 8"/>
          <p:cNvSpPr/>
          <p:nvPr/>
        </p:nvSpPr>
        <p:spPr>
          <a:xfrm>
            <a:off x="4728046" y="1957983"/>
            <a:ext cx="3924598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🏪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题库市场</a:t>
            </a:r>
            <a:endParaRPr lang="zh-CN" sz="1200" dirty="0"/>
          </a:p>
        </p:txBody>
      </p:sp>
      <p:sp>
        <p:nvSpPr>
          <p:cNvPr id="11" name="Text 9"/>
          <p:cNvSpPr/>
          <p:nvPr/>
        </p:nvSpPr>
        <p:spPr>
          <a:xfrm>
            <a:off x="4728046" y="2280568"/>
            <a:ext cx="43817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创作者上架自定义题库，买家浏览购买，平台作为交易中介抽取佣金。</a:t>
            </a:r>
            <a:endParaRPr lang="zh-CN" sz="950" dirty="0"/>
          </a:p>
        </p:txBody>
      </p:sp>
      <p:sp>
        <p:nvSpPr>
          <p:cNvPr id="12" name="Text 10"/>
          <p:cNvSpPr/>
          <p:nvPr/>
        </p:nvSpPr>
        <p:spPr>
          <a:xfrm>
            <a:off x="4728046" y="2590651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平台抽成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20%</a:t>
            </a:r>
            <a:endParaRPr lang="zh-CN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卖家实收 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80%</a:t>
            </a:r>
            <a:endParaRPr lang="zh-CN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激励优质题库持续产出</a:t>
            </a:r>
            <a:endParaRPr lang="zh-CN" sz="950" dirty="0"/>
          </a:p>
        </p:txBody>
      </p:sp>
      <p:sp>
        <p:nvSpPr>
          <p:cNvPr id="13" name="Shape 11"/>
          <p:cNvSpPr/>
          <p:nvPr/>
        </p:nvSpPr>
        <p:spPr>
          <a:xfrm>
            <a:off x="4728046" y="3443287"/>
            <a:ext cx="3924598" cy="14288"/>
          </a:xfrm>
          <a:prstGeom prst="roundRect">
            <a:avLst>
              <a:gd name="adj" fmla="val 59998"/>
            </a:avLst>
          </a:prstGeom>
          <a:solidFill>
            <a:srgbClr val="151617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28046" y="3628058"/>
            <a:ext cx="3924598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悬赏系统</a:t>
            </a:r>
            <a:endParaRPr lang="zh-CN" sz="1200" dirty="0"/>
          </a:p>
        </p:txBody>
      </p:sp>
      <p:sp>
        <p:nvSpPr>
          <p:cNvPr id="15" name="Text 13"/>
          <p:cNvSpPr/>
          <p:nvPr/>
        </p:nvSpPr>
        <p:spPr>
          <a:xfrm>
            <a:off x="4728046" y="3950643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创建者预设奖金池（提交时预扣）→ 参与者提交答案 → 胜者全额领取，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9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平台不抽成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，纯激励性质。</a:t>
            </a:r>
            <a:endParaRPr lang="zh-CN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858"/>
            <a:ext cx="418281" cy="176585"/>
          </a:xfrm>
          <a:prstGeom prst="roundRect">
            <a:avLst>
              <a:gd name="adj" fmla="val 3236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65845" y="376684"/>
            <a:ext cx="736029" cy="106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第11章</a:t>
            </a:r>
            <a:endParaRPr lang="zh-CN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562049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赛季通行证与队伍模块</a:t>
            </a:r>
            <a:endParaRPr lang="zh-CN" sz="2250" dirty="0"/>
          </a:p>
        </p:txBody>
      </p:sp>
      <p:sp>
        <p:nvSpPr>
          <p:cNvPr id="5" name="Text 3"/>
          <p:cNvSpPr/>
          <p:nvPr/>
        </p:nvSpPr>
        <p:spPr>
          <a:xfrm>
            <a:off x="496119" y="1088901"/>
            <a:ext cx="8608963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通过月度战令系统与队伍机制，构建长期留存目标与社交裂变路径，驱动用户持续活跃。</a:t>
            </a:r>
            <a:endParaRPr lang="zh-CN" sz="900" dirty="0"/>
          </a:p>
        </p:txBody>
      </p:sp>
      <p:sp>
        <p:nvSpPr>
          <p:cNvPr id="6" name="Shape 4"/>
          <p:cNvSpPr/>
          <p:nvPr/>
        </p:nvSpPr>
        <p:spPr>
          <a:xfrm>
            <a:off x="4564856" y="1391766"/>
            <a:ext cx="14288" cy="2841873"/>
          </a:xfrm>
          <a:prstGeom prst="roundRect">
            <a:avLst>
              <a:gd name="adj" fmla="val 39999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06614" y="1515442"/>
            <a:ext cx="348853" cy="14288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8" name="Shape 6"/>
          <p:cNvSpPr/>
          <p:nvPr/>
        </p:nvSpPr>
        <p:spPr>
          <a:xfrm>
            <a:off x="4441180" y="1391766"/>
            <a:ext cx="261640" cy="261640"/>
          </a:xfrm>
          <a:prstGeom prst="roundRect">
            <a:avLst>
              <a:gd name="adj" fmla="val 2184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4787" y="1413570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1431727"/>
            <a:ext cx="349448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赛季开启</a:t>
            </a:r>
            <a:endParaRPr lang="zh-CN" sz="1100" dirty="0"/>
          </a:p>
        </p:txBody>
      </p:sp>
      <p:sp>
        <p:nvSpPr>
          <p:cNvPr id="11" name="Text 9"/>
          <p:cNvSpPr/>
          <p:nvPr/>
        </p:nvSpPr>
        <p:spPr>
          <a:xfrm>
            <a:off x="496119" y="1678781"/>
            <a:ext cx="3494484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9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月度 20 级战令上线，XP 可通过对局、挑战、社交互动获取</a:t>
            </a:r>
            <a:endParaRPr lang="zh-CN" sz="900" dirty="0"/>
          </a:p>
        </p:txBody>
      </p:sp>
      <p:sp>
        <p:nvSpPr>
          <p:cNvPr id="12" name="Shape 10"/>
          <p:cNvSpPr/>
          <p:nvPr/>
        </p:nvSpPr>
        <p:spPr>
          <a:xfrm>
            <a:off x="4688532" y="2198638"/>
            <a:ext cx="348853" cy="14288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13" name="Shape 11"/>
          <p:cNvSpPr/>
          <p:nvPr/>
        </p:nvSpPr>
        <p:spPr>
          <a:xfrm>
            <a:off x="4441180" y="2074962"/>
            <a:ext cx="261640" cy="261640"/>
          </a:xfrm>
          <a:prstGeom prst="roundRect">
            <a:avLst>
              <a:gd name="adj" fmla="val 2184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4787" y="2096765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53397" y="2114922"/>
            <a:ext cx="349448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等级成长</a:t>
            </a:r>
            <a:endParaRPr lang="zh-CN" sz="1100" dirty="0"/>
          </a:p>
        </p:txBody>
      </p:sp>
      <p:sp>
        <p:nvSpPr>
          <p:cNvPr id="16" name="Text 14"/>
          <p:cNvSpPr/>
          <p:nvPr/>
        </p:nvSpPr>
        <p:spPr>
          <a:xfrm>
            <a:off x="5153397" y="2361977"/>
            <a:ext cx="3494484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15 级用户成长体系，XP 需求递增，解锁角色槽位与卡组容量上限</a:t>
            </a:r>
            <a:endParaRPr lang="zh-CN" sz="900" dirty="0"/>
          </a:p>
        </p:txBody>
      </p:sp>
      <p:sp>
        <p:nvSpPr>
          <p:cNvPr id="17" name="Shape 15"/>
          <p:cNvSpPr/>
          <p:nvPr/>
        </p:nvSpPr>
        <p:spPr>
          <a:xfrm>
            <a:off x="4106614" y="2792760"/>
            <a:ext cx="348853" cy="14288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18" name="Shape 16"/>
          <p:cNvSpPr/>
          <p:nvPr/>
        </p:nvSpPr>
        <p:spPr>
          <a:xfrm>
            <a:off x="4441180" y="2669084"/>
            <a:ext cx="261640" cy="261640"/>
          </a:xfrm>
          <a:prstGeom prst="roundRect">
            <a:avLst>
              <a:gd name="adj" fmla="val 2184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84787" y="2690887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6119" y="2709044"/>
            <a:ext cx="349448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奖励发放</a:t>
            </a:r>
            <a:endParaRPr lang="zh-CN" sz="1100" dirty="0"/>
          </a:p>
        </p:txBody>
      </p:sp>
      <p:sp>
        <p:nvSpPr>
          <p:cNvPr id="21" name="Text 19"/>
          <p:cNvSpPr/>
          <p:nvPr/>
        </p:nvSpPr>
        <p:spPr>
          <a:xfrm>
            <a:off x="496119" y="2956099"/>
            <a:ext cx="3494484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9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金币、卡牌、角色、头像框等阶段性奖励，激励持续参与</a:t>
            </a:r>
            <a:endParaRPr lang="zh-CN" sz="900" dirty="0"/>
          </a:p>
        </p:txBody>
      </p:sp>
      <p:sp>
        <p:nvSpPr>
          <p:cNvPr id="22" name="Shape 20"/>
          <p:cNvSpPr/>
          <p:nvPr/>
        </p:nvSpPr>
        <p:spPr>
          <a:xfrm>
            <a:off x="4688532" y="3386956"/>
            <a:ext cx="348853" cy="14288"/>
          </a:xfrm>
          <a:prstGeom prst="roundRect">
            <a:avLst>
              <a:gd name="adj" fmla="val 39999"/>
            </a:avLst>
          </a:prstGeom>
          <a:solidFill>
            <a:srgbClr val="151617"/>
          </a:solidFill>
          <a:ln/>
        </p:spPr>
      </p:sp>
      <p:sp>
        <p:nvSpPr>
          <p:cNvPr id="23" name="Shape 21"/>
          <p:cNvSpPr/>
          <p:nvPr/>
        </p:nvSpPr>
        <p:spPr>
          <a:xfrm>
            <a:off x="4441180" y="3263280"/>
            <a:ext cx="261640" cy="261640"/>
          </a:xfrm>
          <a:prstGeom prst="roundRect">
            <a:avLst>
              <a:gd name="adj" fmla="val 2184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5240" dir="2700000">
              <a:srgbClr val="151617">
                <a:alpha val="10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4787" y="3285083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153397" y="3303240"/>
            <a:ext cx="349448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队伍排行</a:t>
            </a:r>
            <a:endParaRPr lang="zh-CN" sz="1100" dirty="0"/>
          </a:p>
        </p:txBody>
      </p:sp>
      <p:sp>
        <p:nvSpPr>
          <p:cNvPr id="26" name="Text 24"/>
          <p:cNvSpPr/>
          <p:nvPr/>
        </p:nvSpPr>
        <p:spPr>
          <a:xfrm>
            <a:off x="5153397" y="3550295"/>
            <a:ext cx="3494484" cy="379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创建队伍 → 邀请成员 → 参与队伍排行榜竞争（</a:t>
            </a:r>
            <a:pPr algn="l" indent="0" marL="0">
              <a:lnSpc>
                <a:spcPct val="129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teams</a:t>
            </a:r>
            <a:pPr algn="l" indent="0" marL="0">
              <a:lnSpc>
                <a:spcPct val="129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/ </a:t>
            </a:r>
            <a:pPr algn="l" indent="0" marL="0">
              <a:lnSpc>
                <a:spcPct val="129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team_members</a:t>
            </a:r>
            <a:pPr algn="l" indent="0" marL="0">
              <a:lnSpc>
                <a:spcPct val="129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）</a:t>
            </a:r>
            <a:endParaRPr lang="zh-CN" sz="900" dirty="0"/>
          </a:p>
        </p:txBody>
      </p:sp>
      <p:sp>
        <p:nvSpPr>
          <p:cNvPr id="27" name="Shape 25"/>
          <p:cNvSpPr/>
          <p:nvPr/>
        </p:nvSpPr>
        <p:spPr>
          <a:xfrm>
            <a:off x="496119" y="4356274"/>
            <a:ext cx="8151763" cy="445368"/>
          </a:xfrm>
          <a:prstGeom prst="roundRect">
            <a:avLst>
              <a:gd name="adj" fmla="val 1283"/>
            </a:avLst>
          </a:prstGeom>
          <a:solidFill>
            <a:srgbClr val="E4E6E7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353" y="4518868"/>
            <a:ext cx="145331" cy="116235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73919" y="4494312"/>
            <a:ext cx="8114928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zh-CN" altLang="en-US" sz="9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赛季系统与用户等级深度绑定，高等级用户享有更多卡组配置自由，形成正向成长循环。</a:t>
            </a:r>
            <a:endParaRPr lang="zh-CN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2351"/>
            <a:ext cx="397446" cy="167878"/>
          </a:xfrm>
          <a:prstGeom prst="roundRect">
            <a:avLst>
              <a:gd name="adj" fmla="val 3404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62347" y="385465"/>
            <a:ext cx="722188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第12章</a:t>
            </a:r>
            <a:endParaRPr lang="zh-CN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59519"/>
            <a:ext cx="8151763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管理后台模块设计</a:t>
            </a:r>
            <a:endParaRPr lang="zh-CN" sz="2150" dirty="0"/>
          </a:p>
        </p:txBody>
      </p:sp>
      <p:sp>
        <p:nvSpPr>
          <p:cNvPr id="5" name="Text 3"/>
          <p:cNvSpPr/>
          <p:nvPr/>
        </p:nvSpPr>
        <p:spPr>
          <a:xfrm>
            <a:off x="496119" y="1052364"/>
            <a:ext cx="8608963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统一审核中台覆盖全站内容类型，配合管理员权限体系与系统参数配置，实现平台治理的规范化与可追溯。</a:t>
            </a:r>
            <a:endParaRPr lang="zh-CN" sz="850" dirty="0"/>
          </a:p>
        </p:txBody>
      </p:sp>
      <p:sp>
        <p:nvSpPr>
          <p:cNvPr id="6" name="Text 4"/>
          <p:cNvSpPr/>
          <p:nvPr/>
        </p:nvSpPr>
        <p:spPr>
          <a:xfrm>
            <a:off x="496119" y="1428527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统一审核流</a:t>
            </a:r>
            <a:endParaRPr lang="zh-CN" sz="1050" dirty="0"/>
          </a:p>
        </p:txBody>
      </p:sp>
      <p:sp>
        <p:nvSpPr>
          <p:cNvPr id="7" name="Text 5"/>
          <p:cNvSpPr/>
          <p:nvPr/>
        </p:nvSpPr>
        <p:spPr>
          <a:xfrm>
            <a:off x="496119" y="1699543"/>
            <a:ext cx="3941118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所有内容类型汇聚至统一审核表 </a:t>
            </a:r>
            <a:pPr algn="l" indent="0" marL="0">
              <a:lnSpc>
                <a:spcPct val="126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reviews</a:t>
            </a:r>
            <a:pPr algn="l" indent="0" marL="0">
              <a:lnSpc>
                <a:spcPct val="126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，覆盖题库、社区帖子、悬赏任务与寻宝游戏。</a:t>
            </a:r>
            <a:endParaRPr lang="zh-CN" sz="850" dirty="0"/>
          </a:p>
        </p:txBody>
      </p:sp>
      <p:sp>
        <p:nvSpPr>
          <p:cNvPr id="8" name="Text 6"/>
          <p:cNvSpPr/>
          <p:nvPr/>
        </p:nvSpPr>
        <p:spPr>
          <a:xfrm>
            <a:off x="496119" y="2149227"/>
            <a:ext cx="220935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6119" y="2322612"/>
            <a:ext cx="3941118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0" name="Text 8"/>
          <p:cNvSpPr/>
          <p:nvPr/>
        </p:nvSpPr>
        <p:spPr>
          <a:xfrm>
            <a:off x="496119" y="2406402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待审</a:t>
            </a:r>
            <a:endParaRPr lang="zh-CN" sz="1050" dirty="0"/>
          </a:p>
        </p:txBody>
      </p:sp>
      <p:sp>
        <p:nvSpPr>
          <p:cNvPr id="11" name="Text 9"/>
          <p:cNvSpPr/>
          <p:nvPr/>
        </p:nvSpPr>
        <p:spPr>
          <a:xfrm>
            <a:off x="496119" y="2677418"/>
            <a:ext cx="3941118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内容提交后进入队列</a:t>
            </a:r>
            <a:endParaRPr lang="zh-CN" sz="850" dirty="0"/>
          </a:p>
        </p:txBody>
      </p:sp>
      <p:sp>
        <p:nvSpPr>
          <p:cNvPr id="12" name="Text 10"/>
          <p:cNvSpPr/>
          <p:nvPr/>
        </p:nvSpPr>
        <p:spPr>
          <a:xfrm>
            <a:off x="496119" y="3025750"/>
            <a:ext cx="220935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6119" y="3199135"/>
            <a:ext cx="3941118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282925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认领 → 查验</a:t>
            </a:r>
            <a:endParaRPr lang="zh-CN" sz="1050" dirty="0"/>
          </a:p>
        </p:txBody>
      </p:sp>
      <p:sp>
        <p:nvSpPr>
          <p:cNvPr id="15" name="Text 13"/>
          <p:cNvSpPr/>
          <p:nvPr/>
        </p:nvSpPr>
        <p:spPr>
          <a:xfrm>
            <a:off x="496119" y="3553941"/>
            <a:ext cx="3941118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审核员领取任务并核实</a:t>
            </a:r>
            <a:endParaRPr lang="zh-CN" sz="850" dirty="0"/>
          </a:p>
        </p:txBody>
      </p:sp>
      <p:sp>
        <p:nvSpPr>
          <p:cNvPr id="16" name="Text 14"/>
          <p:cNvSpPr/>
          <p:nvPr/>
        </p:nvSpPr>
        <p:spPr>
          <a:xfrm>
            <a:off x="496119" y="3902273"/>
            <a:ext cx="220935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6119" y="4075658"/>
            <a:ext cx="3941118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4159448"/>
            <a:ext cx="394111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通过 / 驳回</a:t>
            </a:r>
            <a:endParaRPr lang="zh-CN" sz="1050" dirty="0"/>
          </a:p>
        </p:txBody>
      </p:sp>
      <p:sp>
        <p:nvSpPr>
          <p:cNvPr id="19" name="Text 17"/>
          <p:cNvSpPr/>
          <p:nvPr/>
        </p:nvSpPr>
        <p:spPr>
          <a:xfrm>
            <a:off x="496119" y="4430464"/>
            <a:ext cx="3941118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zh-CN" alt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做出决策并通知创建者</a:t>
            </a:r>
            <a:endParaRPr lang="zh-CN" sz="850" dirty="0"/>
          </a:p>
        </p:txBody>
      </p:sp>
      <p:sp>
        <p:nvSpPr>
          <p:cNvPr id="20" name="Shape 18"/>
          <p:cNvSpPr/>
          <p:nvPr/>
        </p:nvSpPr>
        <p:spPr>
          <a:xfrm>
            <a:off x="4631978" y="1330151"/>
            <a:ext cx="4100215" cy="3460924"/>
          </a:xfrm>
          <a:prstGeom prst="roundRect">
            <a:avLst>
              <a:gd name="adj" fmla="val 165"/>
            </a:avLst>
          </a:prstGeom>
          <a:solidFill>
            <a:srgbClr val="151617"/>
          </a:solidFill>
          <a:ln/>
        </p:spPr>
      </p:sp>
      <p:sp>
        <p:nvSpPr>
          <p:cNvPr id="21" name="Text 19"/>
          <p:cNvSpPr/>
          <p:nvPr/>
        </p:nvSpPr>
        <p:spPr>
          <a:xfrm>
            <a:off x="4742408" y="1428527"/>
            <a:ext cx="387935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管理员能力</a:t>
            </a:r>
            <a:endParaRPr lang="zh-CN" sz="1050" dirty="0"/>
          </a:p>
        </p:txBody>
      </p:sp>
      <p:sp>
        <p:nvSpPr>
          <p:cNvPr id="22" name="Text 20"/>
          <p:cNvSpPr/>
          <p:nvPr/>
        </p:nvSpPr>
        <p:spPr>
          <a:xfrm>
            <a:off x="4742408" y="1699543"/>
            <a:ext cx="3879354" cy="570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zh-CN" altLang="en-US" sz="8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人事管理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：任命审核员，分配审核权限</a:t>
            </a:r>
            <a:endParaRPr lang="zh-CN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zh-CN" altLang="en-US" sz="8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系统配置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：限时活动、赛季参数、交易费率</a:t>
            </a:r>
            <a:endParaRPr lang="zh-CN" sz="850" dirty="0"/>
          </a:p>
          <a:p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zh-CN" altLang="en-US" sz="8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数据看板</a:t>
            </a:r>
            <a:pPr algn="l" marL="172720" indent="-172720">
              <a:lnSpc>
                <a:spcPct val="126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：实时监控核心运营指标</a:t>
            </a:r>
            <a:endParaRPr lang="zh-CN" sz="850" dirty="0"/>
          </a:p>
        </p:txBody>
      </p:sp>
      <p:sp>
        <p:nvSpPr>
          <p:cNvPr id="23" name="Shape 21"/>
          <p:cNvSpPr/>
          <p:nvPr/>
        </p:nvSpPr>
        <p:spPr>
          <a:xfrm>
            <a:off x="4742408" y="2407965"/>
            <a:ext cx="3879354" cy="14288"/>
          </a:xfrm>
          <a:prstGeom prst="roundRect">
            <a:avLst>
              <a:gd name="adj" fmla="val 5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42408" y="2560513"/>
            <a:ext cx="3879354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审核覆盖范围</a:t>
            </a:r>
            <a:endParaRPr lang="zh-CN" sz="1050" dirty="0"/>
          </a:p>
        </p:txBody>
      </p:sp>
      <p:sp>
        <p:nvSpPr>
          <p:cNvPr id="25" name="Shape 23"/>
          <p:cNvSpPr/>
          <p:nvPr/>
        </p:nvSpPr>
        <p:spPr>
          <a:xfrm>
            <a:off x="4742408" y="2843808"/>
            <a:ext cx="1890489" cy="403027"/>
          </a:xfrm>
          <a:prstGeom prst="roundRect">
            <a:avLst>
              <a:gd name="adj" fmla="val 1418"/>
            </a:avLst>
          </a:prstGeom>
          <a:solidFill>
            <a:srgbClr val="151617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3970" dir="2700000">
              <a:srgbClr val="151617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57601" y="2959001"/>
            <a:ext cx="1660103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题库</a:t>
            </a:r>
            <a:endParaRPr lang="zh-CN" sz="1050" dirty="0"/>
          </a:p>
        </p:txBody>
      </p:sp>
      <p:sp>
        <p:nvSpPr>
          <p:cNvPr id="27" name="Shape 25"/>
          <p:cNvSpPr/>
          <p:nvPr/>
        </p:nvSpPr>
        <p:spPr>
          <a:xfrm>
            <a:off x="6731273" y="2843808"/>
            <a:ext cx="1890489" cy="403027"/>
          </a:xfrm>
          <a:prstGeom prst="roundRect">
            <a:avLst>
              <a:gd name="adj" fmla="val 1418"/>
            </a:avLst>
          </a:prstGeom>
          <a:solidFill>
            <a:srgbClr val="151617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3970" dir="2700000">
              <a:srgbClr val="151617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46466" y="2959001"/>
            <a:ext cx="1660103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社区</a:t>
            </a:r>
            <a:endParaRPr lang="zh-CN" sz="1050" dirty="0"/>
          </a:p>
        </p:txBody>
      </p:sp>
      <p:sp>
        <p:nvSpPr>
          <p:cNvPr id="29" name="Shape 27"/>
          <p:cNvSpPr/>
          <p:nvPr/>
        </p:nvSpPr>
        <p:spPr>
          <a:xfrm>
            <a:off x="4742408" y="3345210"/>
            <a:ext cx="1890489" cy="403027"/>
          </a:xfrm>
          <a:prstGeom prst="roundRect">
            <a:avLst>
              <a:gd name="adj" fmla="val 1418"/>
            </a:avLst>
          </a:prstGeom>
          <a:solidFill>
            <a:srgbClr val="151617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3970" dir="2700000">
              <a:srgbClr val="151617">
                <a:alpha val="10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57601" y="3460403"/>
            <a:ext cx="1660103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悬赏</a:t>
            </a:r>
            <a:endParaRPr lang="zh-CN" sz="1050" dirty="0"/>
          </a:p>
        </p:txBody>
      </p:sp>
      <p:sp>
        <p:nvSpPr>
          <p:cNvPr id="31" name="Shape 29"/>
          <p:cNvSpPr/>
          <p:nvPr/>
        </p:nvSpPr>
        <p:spPr>
          <a:xfrm>
            <a:off x="6731273" y="3345210"/>
            <a:ext cx="1890489" cy="403027"/>
          </a:xfrm>
          <a:prstGeom prst="roundRect">
            <a:avLst>
              <a:gd name="adj" fmla="val 1418"/>
            </a:avLst>
          </a:prstGeom>
          <a:solidFill>
            <a:srgbClr val="151617"/>
          </a:solidFill>
          <a:ln w="4763">
            <a:solidFill>
              <a:srgbClr val="151617"/>
            </a:solidFill>
            <a:prstDash val="solid"/>
          </a:ln>
          <a:effectLst>
            <a:outerShdw sx="100000" sy="100000" kx="0" ky="0" algn="bl" rotWithShape="0" blurRad="101600" dist="13970" dir="2700000">
              <a:srgbClr val="151617">
                <a:alpha val="10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46466" y="3460403"/>
            <a:ext cx="1660103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寻宝</a:t>
            </a:r>
            <a:endParaRPr lang="zh-CN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1114"/>
            <a:ext cx="223093" cy="94283"/>
          </a:xfrm>
          <a:prstGeom prst="roundRect">
            <a:avLst>
              <a:gd name="adj" fmla="val 6062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33326" y="359718"/>
            <a:ext cx="605879" cy="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3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第13章</a:t>
            </a:r>
            <a:endParaRPr lang="zh-CN" sz="350" dirty="0"/>
          </a:p>
        </p:txBody>
      </p:sp>
      <p:sp>
        <p:nvSpPr>
          <p:cNvPr id="4" name="Text 2"/>
          <p:cNvSpPr/>
          <p:nvPr/>
        </p:nvSpPr>
        <p:spPr>
          <a:xfrm>
            <a:off x="496119" y="447749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数据库结构设计</a:t>
            </a:r>
            <a:endParaRPr lang="zh-CN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688107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采用 SQLite + better-sqlite3，无 ORM，直接编写 SQL，以 27+ 张表覆盖全业务域，通过 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migrate*()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函数实现渐进式 schema 演进。</a:t>
            </a:r>
            <a:endParaRPr lang="zh-CN" sz="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97272"/>
            <a:ext cx="73152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4946898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以 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pPr algn="l" indent="0" marL="0">
              <a:lnSpc>
                <a:spcPct val="100000"/>
              </a:lnSpc>
              <a:buNone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为核心枢纽，向外辐射连接题库、钱包、对战房间、社交互动、队伍、悬赏、赛季、寻宝游戏及通知审核等十大业务域，形成完整的关系型数据网络。</a:t>
            </a:r>
            <a:endParaRPr lang="zh-CN" sz="450" dirty="0"/>
          </a:p>
        </p:txBody>
      </p:sp>
      <p:sp>
        <p:nvSpPr>
          <p:cNvPr id="8" name="Text 5"/>
          <p:cNvSpPr/>
          <p:nvPr/>
        </p:nvSpPr>
        <p:spPr>
          <a:xfrm>
            <a:off x="496119" y="5087020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技术选型</a:t>
            </a:r>
            <a:endParaRPr lang="zh-CN" sz="600" dirty="0"/>
          </a:p>
        </p:txBody>
      </p:sp>
      <p:sp>
        <p:nvSpPr>
          <p:cNvPr id="9" name="Text 6"/>
          <p:cNvSpPr/>
          <p:nvPr/>
        </p:nvSpPr>
        <p:spPr>
          <a:xfrm>
            <a:off x="496119" y="5214863"/>
            <a:ext cx="4000277" cy="244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数据库：SQLite（嵌入式，零配置）</a:t>
            </a:r>
            <a:endParaRPr lang="zh-CN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驱动：better-sqlite3（同步 API，高性能）</a:t>
            </a:r>
            <a:endParaRPr lang="zh-CN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无 ORM，直接 SQL，透明可控</a:t>
            </a:r>
            <a:endParaRPr lang="zh-CN" sz="450" dirty="0"/>
          </a:p>
        </p:txBody>
      </p:sp>
      <p:sp>
        <p:nvSpPr>
          <p:cNvPr id="10" name="Text 7"/>
          <p:cNvSpPr/>
          <p:nvPr/>
        </p:nvSpPr>
        <p:spPr>
          <a:xfrm>
            <a:off x="4652367" y="5087020"/>
            <a:ext cx="4000277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演进策略</a:t>
            </a:r>
            <a:endParaRPr lang="zh-CN" sz="600" dirty="0"/>
          </a:p>
        </p:txBody>
      </p:sp>
      <p:sp>
        <p:nvSpPr>
          <p:cNvPr id="11" name="Text 8"/>
          <p:cNvSpPr/>
          <p:nvPr/>
        </p:nvSpPr>
        <p:spPr>
          <a:xfrm>
            <a:off x="4652367" y="5214863"/>
            <a:ext cx="4000277" cy="244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zh-CN" altLang="en-US" sz="4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migrate*()</a:t>
            </a:r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函数管理 schema 变更</a:t>
            </a:r>
            <a:endParaRPr lang="zh-CN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渐进式演进，支持增量迁移</a:t>
            </a:r>
            <a:endParaRPr lang="zh-CN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zh-CN" altLang="en-US" sz="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27+ 张表，覆盖全业务场景</a:t>
            </a:r>
            <a:endParaRPr lang="zh-CN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5018"/>
            <a:ext cx="355699" cy="150168"/>
          </a:xfrm>
          <a:prstGeom prst="roundRect">
            <a:avLst>
              <a:gd name="adj" fmla="val 3806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55427" y="414635"/>
            <a:ext cx="694283" cy="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第14章</a:t>
            </a:r>
            <a:endParaRPr lang="zh-CN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66663"/>
            <a:ext cx="8151763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9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API 接口设计</a:t>
            </a:r>
            <a:endParaRPr lang="zh-CN" sz="1900" dirty="0"/>
          </a:p>
        </p:txBody>
      </p:sp>
      <p:sp>
        <p:nvSpPr>
          <p:cNvPr id="5" name="Text 3"/>
          <p:cNvSpPr/>
          <p:nvPr/>
        </p:nvSpPr>
        <p:spPr>
          <a:xfrm>
            <a:off x="496119" y="993651"/>
            <a:ext cx="8608963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17 个路由模块覆盖全业务功能，采用 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7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Routes → Services → Database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三层架构，职责清晰，便于测试与扩展。</a:t>
            </a:r>
            <a:endParaRPr lang="zh-CN" sz="750" dirty="0"/>
          </a:p>
        </p:txBody>
      </p:sp>
      <p:sp>
        <p:nvSpPr>
          <p:cNvPr id="6" name="Shape 4"/>
          <p:cNvSpPr/>
          <p:nvPr/>
        </p:nvSpPr>
        <p:spPr>
          <a:xfrm>
            <a:off x="496119" y="1224260"/>
            <a:ext cx="8151763" cy="3104629"/>
          </a:xfrm>
          <a:prstGeom prst="roundRect">
            <a:avLst>
              <a:gd name="adj" fmla="val 18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0881" y="1229023"/>
            <a:ext cx="8142238" cy="246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99777" y="1281038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模块</a:t>
            </a:r>
            <a:endParaRPr lang="zh-CN" sz="750" dirty="0"/>
          </a:p>
        </p:txBody>
      </p:sp>
      <p:sp>
        <p:nvSpPr>
          <p:cNvPr id="9" name="Text 7"/>
          <p:cNvSpPr/>
          <p:nvPr/>
        </p:nvSpPr>
        <p:spPr>
          <a:xfrm>
            <a:off x="2230562" y="1281038"/>
            <a:ext cx="253461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端点</a:t>
            </a:r>
            <a:endParaRPr lang="zh-CN" sz="750" dirty="0"/>
          </a:p>
        </p:txBody>
      </p:sp>
      <p:sp>
        <p:nvSpPr>
          <p:cNvPr id="10" name="Text 8"/>
          <p:cNvSpPr/>
          <p:nvPr/>
        </p:nvSpPr>
        <p:spPr>
          <a:xfrm>
            <a:off x="4510385" y="1281038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职责</a:t>
            </a:r>
            <a:endParaRPr lang="zh-CN" sz="750" dirty="0"/>
          </a:p>
        </p:txBody>
      </p:sp>
      <p:sp>
        <p:nvSpPr>
          <p:cNvPr id="11" name="Shape 9"/>
          <p:cNvSpPr/>
          <p:nvPr/>
        </p:nvSpPr>
        <p:spPr>
          <a:xfrm>
            <a:off x="500881" y="1475110"/>
            <a:ext cx="8142238" cy="246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9777" y="1527125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30562" y="1527125"/>
            <a:ext cx="253461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/api/auth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10385" y="1527125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注册 / 登录 / /me</a:t>
            </a:r>
            <a:endParaRPr lang="zh-CN" sz="750" dirty="0"/>
          </a:p>
        </p:txBody>
      </p:sp>
      <p:sp>
        <p:nvSpPr>
          <p:cNvPr id="15" name="Shape 13"/>
          <p:cNvSpPr/>
          <p:nvPr/>
        </p:nvSpPr>
        <p:spPr>
          <a:xfrm>
            <a:off x="500881" y="1721197"/>
            <a:ext cx="8142238" cy="246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99777" y="1773213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questions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30562" y="1773213"/>
            <a:ext cx="253461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/api/questions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10385" y="1773213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题库 / 题目 CRUD</a:t>
            </a:r>
            <a:endParaRPr lang="zh-CN" sz="750" dirty="0"/>
          </a:p>
        </p:txBody>
      </p:sp>
      <p:sp>
        <p:nvSpPr>
          <p:cNvPr id="19" name="Shape 17"/>
          <p:cNvSpPr/>
          <p:nvPr/>
        </p:nvSpPr>
        <p:spPr>
          <a:xfrm>
            <a:off x="500881" y="1967285"/>
            <a:ext cx="8142238" cy="246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99777" y="2019300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submit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230562" y="2019300"/>
            <a:ext cx="253461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/api/submit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10385" y="2019300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答案提交 + 评分</a:t>
            </a:r>
            <a:endParaRPr lang="zh-CN" sz="750" dirty="0"/>
          </a:p>
        </p:txBody>
      </p:sp>
      <p:sp>
        <p:nvSpPr>
          <p:cNvPr id="23" name="Shape 21"/>
          <p:cNvSpPr/>
          <p:nvPr/>
        </p:nvSpPr>
        <p:spPr>
          <a:xfrm>
            <a:off x="500881" y="2213372"/>
            <a:ext cx="8142238" cy="246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9777" y="2265387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game-modes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30562" y="2265387"/>
            <a:ext cx="253461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/api/game-modes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10385" y="2265387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PvP / BR / 国家连胜</a:t>
            </a:r>
            <a:endParaRPr lang="zh-CN" sz="750" dirty="0"/>
          </a:p>
        </p:txBody>
      </p:sp>
      <p:sp>
        <p:nvSpPr>
          <p:cNvPr id="27" name="Shape 25"/>
          <p:cNvSpPr/>
          <p:nvPr/>
        </p:nvSpPr>
        <p:spPr>
          <a:xfrm>
            <a:off x="500881" y="2459459"/>
            <a:ext cx="8142238" cy="246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99777" y="2511475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social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230562" y="2511475"/>
            <a:ext cx="253461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/api/social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10385" y="2511475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评论 / 点赞 / 关注</a:t>
            </a:r>
            <a:endParaRPr lang="zh-CN" sz="750" dirty="0"/>
          </a:p>
        </p:txBody>
      </p:sp>
      <p:sp>
        <p:nvSpPr>
          <p:cNvPr id="31" name="Shape 29"/>
          <p:cNvSpPr/>
          <p:nvPr/>
        </p:nvSpPr>
        <p:spPr>
          <a:xfrm>
            <a:off x="500881" y="2705546"/>
            <a:ext cx="8142238" cy="246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99777" y="2757562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wallet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230562" y="2757562"/>
            <a:ext cx="253461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/api/wallet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10385" y="2757562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余额 / 充值 / 提现</a:t>
            </a:r>
            <a:endParaRPr lang="zh-CN" sz="750" dirty="0"/>
          </a:p>
        </p:txBody>
      </p:sp>
      <p:sp>
        <p:nvSpPr>
          <p:cNvPr id="35" name="Shape 33"/>
          <p:cNvSpPr/>
          <p:nvPr/>
        </p:nvSpPr>
        <p:spPr>
          <a:xfrm>
            <a:off x="500881" y="2951634"/>
            <a:ext cx="8142238" cy="246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99777" y="3003649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marketplace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230562" y="3003649"/>
            <a:ext cx="253461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/api/marketplace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10385" y="3003649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题库买卖</a:t>
            </a:r>
            <a:endParaRPr lang="zh-CN" sz="750" dirty="0"/>
          </a:p>
        </p:txBody>
      </p:sp>
      <p:sp>
        <p:nvSpPr>
          <p:cNvPr id="39" name="Shape 37"/>
          <p:cNvSpPr/>
          <p:nvPr/>
        </p:nvSpPr>
        <p:spPr>
          <a:xfrm>
            <a:off x="500881" y="3197721"/>
            <a:ext cx="8142238" cy="246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99777" y="3249737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bounties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230562" y="3249737"/>
            <a:ext cx="253461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/api/bounties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510385" y="3249737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悬赏系统</a:t>
            </a:r>
            <a:endParaRPr lang="zh-CN" sz="750" dirty="0"/>
          </a:p>
        </p:txBody>
      </p:sp>
      <p:sp>
        <p:nvSpPr>
          <p:cNvPr id="43" name="Shape 41"/>
          <p:cNvSpPr/>
          <p:nvPr/>
        </p:nvSpPr>
        <p:spPr>
          <a:xfrm>
            <a:off x="500881" y="3443808"/>
            <a:ext cx="8142238" cy="24608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99777" y="3495824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season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230562" y="3495824"/>
            <a:ext cx="253461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/api/season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510385" y="3495824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赛季战令</a:t>
            </a:r>
            <a:endParaRPr lang="zh-CN" sz="750" dirty="0"/>
          </a:p>
        </p:txBody>
      </p:sp>
      <p:sp>
        <p:nvSpPr>
          <p:cNvPr id="47" name="Shape 45"/>
          <p:cNvSpPr/>
          <p:nvPr/>
        </p:nvSpPr>
        <p:spPr>
          <a:xfrm>
            <a:off x="500881" y="3689896"/>
            <a:ext cx="8142238" cy="2460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99777" y="3741911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leaderboard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230562" y="3741911"/>
            <a:ext cx="2534617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/api/leaderboard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510385" y="3741911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排行榜</a:t>
            </a:r>
            <a:endParaRPr lang="zh-CN" sz="750" dirty="0"/>
          </a:p>
        </p:txBody>
      </p:sp>
      <p:sp>
        <p:nvSpPr>
          <p:cNvPr id="51" name="Shape 49"/>
          <p:cNvSpPr/>
          <p:nvPr/>
        </p:nvSpPr>
        <p:spPr>
          <a:xfrm>
            <a:off x="500881" y="3935983"/>
            <a:ext cx="8142238" cy="3881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99777" y="3987998"/>
            <a:ext cx="1885578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其他</a:t>
            </a:r>
            <a:endParaRPr lang="zh-CN" sz="750" dirty="0"/>
          </a:p>
        </p:txBody>
      </p:sp>
      <p:sp>
        <p:nvSpPr>
          <p:cNvPr id="53" name="Text 51"/>
          <p:cNvSpPr/>
          <p:nvPr/>
        </p:nvSpPr>
        <p:spPr>
          <a:xfrm>
            <a:off x="2230562" y="3987998"/>
            <a:ext cx="2077417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community / teams / notifications / reviews / games / uploads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510385" y="3987998"/>
            <a:ext cx="4491112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社区 / 队伍 / 通知 / 审核 / 寻宝 / 上传</a:t>
            </a:r>
            <a:endParaRPr lang="zh-CN" sz="750" dirty="0"/>
          </a:p>
        </p:txBody>
      </p:sp>
      <p:sp>
        <p:nvSpPr>
          <p:cNvPr id="55" name="Shape 53"/>
          <p:cNvSpPr/>
          <p:nvPr/>
        </p:nvSpPr>
        <p:spPr>
          <a:xfrm>
            <a:off x="496119" y="4417442"/>
            <a:ext cx="8151763" cy="341040"/>
          </a:xfrm>
          <a:prstGeom prst="roundRect">
            <a:avLst>
              <a:gd name="adj" fmla="val 1676"/>
            </a:avLst>
          </a:prstGeom>
          <a:solidFill>
            <a:srgbClr val="E4E6E7"/>
          </a:solidFill>
          <a:ln/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940" y="4549750"/>
            <a:ext cx="123527" cy="98822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817290" y="4520878"/>
            <a:ext cx="8188970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7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架构分层：Routes 层负责请求校验与权限控制 → Services 层封装业务逻辑 → Database 层执行 SQL 操作，三层解耦，便于单元测试与独立演进。</a:t>
            </a:r>
            <a:endParaRPr lang="zh-CN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8739"/>
            <a:ext cx="411361" cy="173757"/>
          </a:xfrm>
          <a:prstGeom prst="roundRect">
            <a:avLst>
              <a:gd name="adj" fmla="val 3289"/>
            </a:avLst>
          </a:prstGeom>
          <a:solidFill>
            <a:srgbClr val="E4E6E7"/>
          </a:solidFill>
          <a:ln/>
        </p:spPr>
      </p:sp>
      <p:sp>
        <p:nvSpPr>
          <p:cNvPr id="3" name="Text 1"/>
          <p:cNvSpPr/>
          <p:nvPr/>
        </p:nvSpPr>
        <p:spPr>
          <a:xfrm>
            <a:off x="564728" y="423044"/>
            <a:ext cx="731341" cy="105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第15章</a:t>
            </a:r>
            <a:endParaRPr lang="zh-CN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04614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前端架构设计</a:t>
            </a:r>
            <a:endParaRPr lang="zh-CN" sz="2250" dirty="0"/>
          </a:p>
        </p:txBody>
      </p:sp>
      <p:sp>
        <p:nvSpPr>
          <p:cNvPr id="5" name="Text 3"/>
          <p:cNvSpPr/>
          <p:nvPr/>
        </p:nvSpPr>
        <p:spPr>
          <a:xfrm>
            <a:off x="496119" y="1120080"/>
            <a:ext cx="860896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24 个页面覆盖完整用户旅程，组件分层清晰，状态管理统一，支持多游戏模式与社交功能的无缝切换。</a:t>
            </a:r>
            <a:endParaRPr lang="zh-CN" sz="900" dirty="0"/>
          </a:p>
        </p:txBody>
      </p:sp>
      <p:sp>
        <p:nvSpPr>
          <p:cNvPr id="6" name="Shape 4"/>
          <p:cNvSpPr/>
          <p:nvPr/>
        </p:nvSpPr>
        <p:spPr>
          <a:xfrm>
            <a:off x="413817" y="1414463"/>
            <a:ext cx="4101033" cy="3340224"/>
          </a:xfrm>
          <a:prstGeom prst="roundRect">
            <a:avLst>
              <a:gd name="adj" fmla="val 171"/>
            </a:avLst>
          </a:prstGeom>
          <a:solidFill>
            <a:srgbClr val="151617"/>
          </a:solidFill>
          <a:ln/>
        </p:spPr>
      </p:sp>
      <p:sp>
        <p:nvSpPr>
          <p:cNvPr id="7" name="Text 5"/>
          <p:cNvSpPr/>
          <p:nvPr/>
        </p:nvSpPr>
        <p:spPr>
          <a:xfrm>
            <a:off x="528117" y="1519833"/>
            <a:ext cx="387243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🗺️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页面路由</a:t>
            </a:r>
            <a:endParaRPr lang="zh-CN" sz="1100" dirty="0"/>
          </a:p>
        </p:txBody>
      </p:sp>
      <p:sp>
        <p:nvSpPr>
          <p:cNvPr id="8" name="Text 6"/>
          <p:cNvSpPr/>
          <p:nvPr/>
        </p:nvSpPr>
        <p:spPr>
          <a:xfrm>
            <a:off x="528117" y="1803871"/>
            <a:ext cx="432963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9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共 24 个页面，覆盖从登录到游戏、社交、市场、管理的全链路。</a:t>
            </a:r>
            <a:endParaRPr lang="zh-CN" sz="900" dirty="0"/>
          </a:p>
        </p:txBody>
      </p:sp>
      <p:sp>
        <p:nvSpPr>
          <p:cNvPr id="9" name="Text 7"/>
          <p:cNvSpPr/>
          <p:nvPr/>
        </p:nvSpPr>
        <p:spPr>
          <a:xfrm>
            <a:off x="528117" y="2074590"/>
            <a:ext cx="3872433" cy="1050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→ 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→ 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/game/:id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/pvp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/br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/daily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/bounties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/community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/profile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/leaderboard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/marketplace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/teams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/season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2232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/admin/reviews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zh-CN" altLang="en-US" sz="90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等管理入口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16214" y="1519833"/>
            <a:ext cx="393642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🧩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组件分层</a:t>
            </a:r>
            <a:endParaRPr lang="zh-CN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6214" y="1817043"/>
            <a:ext cx="1915492" cy="90241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01952" y="1945630"/>
            <a:ext cx="1601167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地图层</a:t>
            </a:r>
            <a:endParaRPr lang="zh-CN" sz="1100" dirty="0"/>
          </a:p>
        </p:txBody>
      </p:sp>
      <p:sp>
        <p:nvSpPr>
          <p:cNvPr id="13" name="Text 10"/>
          <p:cNvSpPr/>
          <p:nvPr/>
        </p:nvSpPr>
        <p:spPr>
          <a:xfrm>
            <a:off x="4901952" y="2229669"/>
            <a:ext cx="1601167" cy="361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GuessMap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/ 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ResultMap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/ 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StreetView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7077" y="1817043"/>
            <a:ext cx="1915567" cy="90241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22815" y="1945630"/>
            <a:ext cx="1601242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游戏层</a:t>
            </a:r>
            <a:endParaRPr lang="zh-CN" sz="1100" dirty="0"/>
          </a:p>
        </p:txBody>
      </p:sp>
      <p:sp>
        <p:nvSpPr>
          <p:cNvPr id="16" name="Text 12"/>
          <p:cNvSpPr/>
          <p:nvPr/>
        </p:nvSpPr>
        <p:spPr>
          <a:xfrm>
            <a:off x="6922815" y="2229669"/>
            <a:ext cx="1601242" cy="180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ResultPanel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/ 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BountyCard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6214" y="2824832"/>
            <a:ext cx="1915492" cy="9024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01952" y="2953420"/>
            <a:ext cx="1601167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社交层</a:t>
            </a:r>
            <a:endParaRPr lang="zh-CN" sz="1100" dirty="0"/>
          </a:p>
        </p:txBody>
      </p:sp>
      <p:sp>
        <p:nvSpPr>
          <p:cNvPr id="19" name="Text 14"/>
          <p:cNvSpPr/>
          <p:nvPr/>
        </p:nvSpPr>
        <p:spPr>
          <a:xfrm>
            <a:off x="4901952" y="3237458"/>
            <a:ext cx="1601167" cy="180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CommentSection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/ 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PostCard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7077" y="2824832"/>
            <a:ext cx="1915567" cy="9024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22815" y="2953420"/>
            <a:ext cx="1601242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通用层</a:t>
            </a:r>
            <a:endParaRPr lang="zh-CN" sz="1100" dirty="0"/>
          </a:p>
        </p:txBody>
      </p:sp>
      <p:sp>
        <p:nvSpPr>
          <p:cNvPr id="22" name="Text 16"/>
          <p:cNvSpPr/>
          <p:nvPr/>
        </p:nvSpPr>
        <p:spPr>
          <a:xfrm>
            <a:off x="6922815" y="3237458"/>
            <a:ext cx="1601242" cy="361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NavBar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/ 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ProtectedRoute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/ 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AuthContext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716214" y="3874368"/>
            <a:ext cx="3936429" cy="14288"/>
          </a:xfrm>
          <a:prstGeom prst="roundRect">
            <a:avLst>
              <a:gd name="adj" fmla="val 59998"/>
            </a:avLst>
          </a:prstGeom>
          <a:solidFill>
            <a:srgbClr val="151617">
              <a:alpha val="5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4716214" y="4035772"/>
            <a:ext cx="393642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状态管理</a:t>
            </a:r>
            <a:endParaRPr lang="zh-CN" sz="1100" dirty="0"/>
          </a:p>
        </p:txBody>
      </p:sp>
      <p:sp>
        <p:nvSpPr>
          <p:cNvPr id="25" name="Text 19"/>
          <p:cNvSpPr/>
          <p:nvPr/>
        </p:nvSpPr>
        <p:spPr>
          <a:xfrm>
            <a:off x="4716214" y="4319811"/>
            <a:ext cx="3936429" cy="3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zh-CN" alt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AuthContext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zh-CN" alt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全局管理登录态</a:t>
            </a:r>
            <a:endParaRPr lang="zh-CN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zh-CN" altLang="en-US" sz="9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api.js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zh-CN" alt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统一 fetch 封装，集中处理错误与 token 刷新</a:t>
            </a:r>
            <a:endParaRPr lang="zh-CN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2026-07-11T06:54:03Z</dcterms:created>
  <dcterms:modified xsi:type="dcterms:W3CDTF">2026-07-11T06:54:03Z</dcterms:modified>
</cp:coreProperties>
</file>